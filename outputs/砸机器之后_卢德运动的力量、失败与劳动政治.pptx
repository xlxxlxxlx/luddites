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f09e4dde474237" /><Relationship Type="http://schemas.openxmlformats.org/officeDocument/2006/relationships/extended-properties" Target="/docProps/app.xml" Id="Re4c78a0744854098" /><Relationship Type="http://schemas.openxmlformats.org/officeDocument/2006/relationships/officeDocument" Target="/ppt/presentation.xml" Id="R825a95c8111f4e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c32bb0e57a4e8d"/>
  </p:sldMasterIdLst>
  <p:notesMasterIdLst>
    <p:notesMasterId xmlns:r="http://schemas.openxmlformats.org/officeDocument/2006/relationships" r:id="Ra5fe5aa0c17b4474"/>
  </p:notesMasterIdLst>
  <p:sldIdLst>
    <p:sldId xmlns:r="http://schemas.openxmlformats.org/officeDocument/2006/relationships" id="256" r:id="Re95f6abd5a044f75"/>
    <p:sldId xmlns:r="http://schemas.openxmlformats.org/officeDocument/2006/relationships" id="257" r:id="Rd51cf92bec89444f"/>
    <p:sldId xmlns:r="http://schemas.openxmlformats.org/officeDocument/2006/relationships" id="258" r:id="Ra0dcab0a31054067"/>
    <p:sldId xmlns:r="http://schemas.openxmlformats.org/officeDocument/2006/relationships" id="259" r:id="R2bcdfcfbb4d64bc4"/>
    <p:sldId xmlns:r="http://schemas.openxmlformats.org/officeDocument/2006/relationships" id="260" r:id="R5a6a267ea6594485"/>
    <p:sldId xmlns:r="http://schemas.openxmlformats.org/officeDocument/2006/relationships" id="261" r:id="Rcef1da2aadd34e21"/>
    <p:sldId xmlns:r="http://schemas.openxmlformats.org/officeDocument/2006/relationships" id="262" r:id="Rc39ad93387104c22"/>
    <p:sldId xmlns:r="http://schemas.openxmlformats.org/officeDocument/2006/relationships" id="263" r:id="Rfb539cd926cb4fb4"/>
    <p:sldId xmlns:r="http://schemas.openxmlformats.org/officeDocument/2006/relationships" id="264" r:id="R99ec581981fc48c0"/>
    <p:sldId xmlns:r="http://schemas.openxmlformats.org/officeDocument/2006/relationships" id="265" r:id="R49a84b313c564408"/>
    <p:sldId xmlns:r="http://schemas.openxmlformats.org/officeDocument/2006/relationships" id="266" r:id="R954172a7672c4762"/>
    <p:sldId xmlns:r="http://schemas.openxmlformats.org/officeDocument/2006/relationships" id="267" r:id="R474a0e8e25ad44af"/>
    <p:sldId xmlns:r="http://schemas.openxmlformats.org/officeDocument/2006/relationships" id="268" r:id="R75c6f50b3899498f"/>
    <p:sldId xmlns:r="http://schemas.openxmlformats.org/officeDocument/2006/relationships" id="269" r:id="R098c93671168483a"/>
    <p:sldId xmlns:r="http://schemas.openxmlformats.org/officeDocument/2006/relationships" id="270" r:id="R49eec10eb0a54e37"/>
    <p:sldId xmlns:r="http://schemas.openxmlformats.org/officeDocument/2006/relationships" id="271" r:id="Rac25c5ba27704198"/>
    <p:sldId xmlns:r="http://schemas.openxmlformats.org/officeDocument/2006/relationships" id="272" r:id="R82e664184a7b4468"/>
    <p:sldId xmlns:r="http://schemas.openxmlformats.org/officeDocument/2006/relationships" id="273" r:id="Rafc8e81b105f4d9a"/>
    <p:sldId xmlns:r="http://schemas.openxmlformats.org/officeDocument/2006/relationships" id="274" r:id="Rb06cd5349ca14ac5"/>
    <p:sldId xmlns:r="http://schemas.openxmlformats.org/officeDocument/2006/relationships" id="275" r:id="Rc797b8ff1f5c484c"/>
    <p:sldId xmlns:r="http://schemas.openxmlformats.org/officeDocument/2006/relationships" id="276" r:id="R471ee0429de545f1"/>
    <p:sldId xmlns:r="http://schemas.openxmlformats.org/officeDocument/2006/relationships" id="277" r:id="R6fe83461559d4c4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29041368844fd4" /><Relationship Type="http://schemas.openxmlformats.org/officeDocument/2006/relationships/slideMaster" Target="/ppt/slideMasters/slideMaster1.xml" Id="R41c32bb0e57a4e8d" /><Relationship Type="http://schemas.openxmlformats.org/officeDocument/2006/relationships/notesMaster" Target="/ppt/notesMasters/notesMaster1.xml" Id="Ra5fe5aa0c17b4474" /><Relationship Type="http://schemas.openxmlformats.org/officeDocument/2006/relationships/presProps" Target="/ppt/presProps.xml" Id="R553aaf3040f84ff8" /><Relationship Type="http://schemas.openxmlformats.org/officeDocument/2006/relationships/tableStyles" Target="/ppt/tableStyles.xml" Id="Re4d28563e7354159" /><Relationship Type="http://schemas.openxmlformats.org/officeDocument/2006/relationships/slide" Target="/ppt/slides/slide1.xml" Id="Re95f6abd5a044f75" /><Relationship Type="http://schemas.openxmlformats.org/officeDocument/2006/relationships/slide" Target="/ppt/slides/slide2.xml" Id="Rd51cf92bec89444f" /><Relationship Type="http://schemas.openxmlformats.org/officeDocument/2006/relationships/slide" Target="/ppt/slides/slide3.xml" Id="Ra0dcab0a31054067" /><Relationship Type="http://schemas.openxmlformats.org/officeDocument/2006/relationships/slide" Target="/ppt/slides/slide4.xml" Id="R2bcdfcfbb4d64bc4" /><Relationship Type="http://schemas.openxmlformats.org/officeDocument/2006/relationships/slide" Target="/ppt/slides/slide5.xml" Id="R5a6a267ea6594485" /><Relationship Type="http://schemas.openxmlformats.org/officeDocument/2006/relationships/slide" Target="/ppt/slides/slide6.xml" Id="Rcef1da2aadd34e21" /><Relationship Type="http://schemas.openxmlformats.org/officeDocument/2006/relationships/slide" Target="/ppt/slides/slide7.xml" Id="Rc39ad93387104c22" /><Relationship Type="http://schemas.openxmlformats.org/officeDocument/2006/relationships/slide" Target="/ppt/slides/slide8.xml" Id="Rfb539cd926cb4fb4" /><Relationship Type="http://schemas.openxmlformats.org/officeDocument/2006/relationships/slide" Target="/ppt/slides/slide9.xml" Id="R99ec581981fc48c0" /><Relationship Type="http://schemas.openxmlformats.org/officeDocument/2006/relationships/slide" Target="/ppt/slides/slide10.xml" Id="R49a84b313c564408" /><Relationship Type="http://schemas.openxmlformats.org/officeDocument/2006/relationships/slide" Target="/ppt/slides/slide11.xml" Id="R954172a7672c4762" /><Relationship Type="http://schemas.openxmlformats.org/officeDocument/2006/relationships/slide" Target="/ppt/slides/slide12.xml" Id="R474a0e8e25ad44af" /><Relationship Type="http://schemas.openxmlformats.org/officeDocument/2006/relationships/slide" Target="/ppt/slides/slide13.xml" Id="R75c6f50b3899498f" /><Relationship Type="http://schemas.openxmlformats.org/officeDocument/2006/relationships/slide" Target="/ppt/slides/slide14.xml" Id="R098c93671168483a" /><Relationship Type="http://schemas.openxmlformats.org/officeDocument/2006/relationships/slide" Target="/ppt/slides/slide15.xml" Id="R49eec10eb0a54e37" /><Relationship Type="http://schemas.openxmlformats.org/officeDocument/2006/relationships/slide" Target="/ppt/slides/slide16.xml" Id="Rac25c5ba27704198" /><Relationship Type="http://schemas.openxmlformats.org/officeDocument/2006/relationships/slide" Target="/ppt/slides/slide17.xml" Id="R82e664184a7b4468" /><Relationship Type="http://schemas.openxmlformats.org/officeDocument/2006/relationships/slide" Target="/ppt/slides/slide18.xml" Id="Rafc8e81b105f4d9a" /><Relationship Type="http://schemas.openxmlformats.org/officeDocument/2006/relationships/slide" Target="/ppt/slides/slide19.xml" Id="Rb06cd5349ca14ac5" /><Relationship Type="http://schemas.openxmlformats.org/officeDocument/2006/relationships/slide" Target="/ppt/slides/slide20.xml" Id="Rc797b8ff1f5c484c" /><Relationship Type="http://schemas.openxmlformats.org/officeDocument/2006/relationships/slide" Target="/ppt/slides/slide21.xml" Id="R471ee0429de545f1" /><Relationship Type="http://schemas.openxmlformats.org/officeDocument/2006/relationships/slide" Target="/ppt/slides/slide22.xml" Id="R6fe83461559d4c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c343e4fce049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4c046c59354462" /><Relationship Type="http://schemas.openxmlformats.org/officeDocument/2006/relationships/notesMaster" Target="/ppt/notesMasters/notesMaster1.xml" Id="R953d7d651e384c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8e9848feab4c48" /><Relationship Type="http://schemas.openxmlformats.org/officeDocument/2006/relationships/notesMaster" Target="/ppt/notesMasters/notesMaster1.xml" Id="R2340d1b7758946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72d1ffe69b47e8" /><Relationship Type="http://schemas.openxmlformats.org/officeDocument/2006/relationships/notesMaster" Target="/ppt/notesMasters/notesMaster1.xml" Id="R12428b66c63540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a2da544186498d" /><Relationship Type="http://schemas.openxmlformats.org/officeDocument/2006/relationships/notesMaster" Target="/ppt/notesMasters/notesMaster1.xml" Id="Rd3667df1641d4a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c44d7e8ba047ce" /><Relationship Type="http://schemas.openxmlformats.org/officeDocument/2006/relationships/notesMaster" Target="/ppt/notesMasters/notesMaster1.xml" Id="R38dc61e94daf48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2b03cc2274425c" /><Relationship Type="http://schemas.openxmlformats.org/officeDocument/2006/relationships/notesMaster" Target="/ppt/notesMasters/notesMaster1.xml" Id="R9eb7bed51bff4a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ed81f734034172" /><Relationship Type="http://schemas.openxmlformats.org/officeDocument/2006/relationships/notesMaster" Target="/ppt/notesMasters/notesMaster1.xml" Id="R3d7335b9b8f446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781723e42a4c1d" /><Relationship Type="http://schemas.openxmlformats.org/officeDocument/2006/relationships/notesMaster" Target="/ppt/notesMasters/notesMaster1.xml" Id="R26e531a6f89d4a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80cd4344214e7a" /><Relationship Type="http://schemas.openxmlformats.org/officeDocument/2006/relationships/notesMaster" Target="/ppt/notesMasters/notesMaster1.xml" Id="R747fa5c8b9ef4e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b51bf4d37d49a2" /><Relationship Type="http://schemas.openxmlformats.org/officeDocument/2006/relationships/notesMaster" Target="/ppt/notesMasters/notesMaster1.xml" Id="R381d0cf5bcfb48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0fae8540c34111" /><Relationship Type="http://schemas.openxmlformats.org/officeDocument/2006/relationships/notesMaster" Target="/ppt/notesMasters/notesMaster1.xml" Id="Rf69a83a1222e49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7bd4035e21400c" /><Relationship Type="http://schemas.openxmlformats.org/officeDocument/2006/relationships/notesMaster" Target="/ppt/notesMasters/notesMaster1.xml" Id="R4677d5c0bfcc4f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10d94fada4475c" /><Relationship Type="http://schemas.openxmlformats.org/officeDocument/2006/relationships/notesMaster" Target="/ppt/notesMasters/notesMaster1.xml" Id="Ra4a657d5650c449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9ed9a67fba4369" /><Relationship Type="http://schemas.openxmlformats.org/officeDocument/2006/relationships/notesMaster" Target="/ppt/notesMasters/notesMaster1.xml" Id="R1e0f0d73d12a4e6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71364ae265a4760" /><Relationship Type="http://schemas.openxmlformats.org/officeDocument/2006/relationships/notesMaster" Target="/ppt/notesMasters/notesMaster1.xml" Id="R5ebc3151d0ea4f9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ec7e577949a43bd" /><Relationship Type="http://schemas.openxmlformats.org/officeDocument/2006/relationships/notesMaster" Target="/ppt/notesMasters/notesMaster1.xml" Id="R4934a9fbc2644ef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726e79bdfaf4b74" /><Relationship Type="http://schemas.openxmlformats.org/officeDocument/2006/relationships/notesMaster" Target="/ppt/notesMasters/notesMaster1.xml" Id="R2f04546bde194c6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a2481bd1ef24c3b" /><Relationship Type="http://schemas.openxmlformats.org/officeDocument/2006/relationships/notesMaster" Target="/ppt/notesMasters/notesMaster1.xml" Id="Re2b2db5142fa4c6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c784decab8946cd" /><Relationship Type="http://schemas.openxmlformats.org/officeDocument/2006/relationships/notesMaster" Target="/ppt/notesMasters/notesMaster1.xml" Id="Rdd5cd97fa27c4f9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ae5a480948d470d" /><Relationship Type="http://schemas.openxmlformats.org/officeDocument/2006/relationships/notesMaster" Target="/ppt/notesMasters/notesMaster1.xml" Id="Rb74ed704c1904d6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ea55feb13b24b28" /><Relationship Type="http://schemas.openxmlformats.org/officeDocument/2006/relationships/notesMaster" Target="/ppt/notesMasters/notesMaster1.xml" Id="R8771169559fa4ae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7853f34707e4387" /><Relationship Type="http://schemas.openxmlformats.org/officeDocument/2006/relationships/notesMaster" Target="/ppt/notesMasters/notesMaster1.xml" Id="R5cfc39e6e9344d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0ca228f5524f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8215b34b8c4208" /><Relationship Type="http://schemas.openxmlformats.org/officeDocument/2006/relationships/slideLayout" Target="/ppt/slideLayouts/slideLayout1.xml" Id="R54f0790077b14f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f0790077b14f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271c6f15547b1" /><Relationship Type="http://schemas.openxmlformats.org/officeDocument/2006/relationships/notesSlide" Target="/ppt/notesSlides/notesSlide1.xml" Id="R77e6de806d4c42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82388f8704aeb" /><Relationship Type="http://schemas.openxmlformats.org/officeDocument/2006/relationships/notesSlide" Target="/ppt/notesSlides/notesSlide2.xml" Id="Rb046d5b135a345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b192cf794425c" /><Relationship Type="http://schemas.openxmlformats.org/officeDocument/2006/relationships/notesSlide" Target="/ppt/notesSlides/notesSlide3.xml" Id="R4b937cd2553b4f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81d5e2d0b479f" /><Relationship Type="http://schemas.openxmlformats.org/officeDocument/2006/relationships/notesSlide" Target="/ppt/notesSlides/notesSlide4.xml" Id="Rbd9ab8c437cf48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67a7c7f194089" /><Relationship Type="http://schemas.openxmlformats.org/officeDocument/2006/relationships/notesSlide" Target="/ppt/notesSlides/notesSlide5.xml" Id="Rd75134f439b54f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a1040f8574b89" /><Relationship Type="http://schemas.openxmlformats.org/officeDocument/2006/relationships/notesSlide" Target="/ppt/notesSlides/notesSlide6.xml" Id="R3d29697996004c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67628a5b64e88" /><Relationship Type="http://schemas.openxmlformats.org/officeDocument/2006/relationships/notesSlide" Target="/ppt/notesSlides/notesSlide7.xml" Id="R2b6b9f9d6ce84e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5296f67344fab" /><Relationship Type="http://schemas.openxmlformats.org/officeDocument/2006/relationships/notesSlide" Target="/ppt/notesSlides/notesSlide8.xml" Id="Rc495c3cbd32840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7ffd1acfd45be" /><Relationship Type="http://schemas.openxmlformats.org/officeDocument/2006/relationships/notesSlide" Target="/ppt/notesSlides/notesSlide9.xml" Id="Refb887fbbba549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a737f69524a68" /><Relationship Type="http://schemas.openxmlformats.org/officeDocument/2006/relationships/notesSlide" Target="/ppt/notesSlides/notesSlide10.xml" Id="Re73681f800884a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1ee8b867d4081" /><Relationship Type="http://schemas.openxmlformats.org/officeDocument/2006/relationships/notesSlide" Target="/ppt/notesSlides/notesSlide11.xml" Id="R8b749616cee44d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f4f435d744402" /><Relationship Type="http://schemas.openxmlformats.org/officeDocument/2006/relationships/notesSlide" Target="/ppt/notesSlides/notesSlide12.xml" Id="R5f3e5fa6e6d14f3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8e816e9f042bf" /><Relationship Type="http://schemas.openxmlformats.org/officeDocument/2006/relationships/notesSlide" Target="/ppt/notesSlides/notesSlide13.xml" Id="R10e7f449c51a4e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9a30aade54cc4" /><Relationship Type="http://schemas.openxmlformats.org/officeDocument/2006/relationships/notesSlide" Target="/ppt/notesSlides/notesSlide14.xml" Id="R8c55dbe7ea7c4a7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770d8808a470d" /><Relationship Type="http://schemas.openxmlformats.org/officeDocument/2006/relationships/notesSlide" Target="/ppt/notesSlides/notesSlide15.xml" Id="Rca31df0e4cf348c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756bbf18c4787" /><Relationship Type="http://schemas.openxmlformats.org/officeDocument/2006/relationships/notesSlide" Target="/ppt/notesSlides/notesSlide16.xml" Id="R2ec3bc394e664c7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2131a74074884" /><Relationship Type="http://schemas.openxmlformats.org/officeDocument/2006/relationships/notesSlide" Target="/ppt/notesSlides/notesSlide17.xml" Id="R881ed2fbeca2412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c8ad61b79460b" /><Relationship Type="http://schemas.openxmlformats.org/officeDocument/2006/relationships/notesSlide" Target="/ppt/notesSlides/notesSlide18.xml" Id="R95d3ca9a8b654c7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999f00eaa4f99" /><Relationship Type="http://schemas.openxmlformats.org/officeDocument/2006/relationships/notesSlide" Target="/ppt/notesSlides/notesSlide19.xml" Id="R2276b7294f574a8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1fc7e13514826" /><Relationship Type="http://schemas.openxmlformats.org/officeDocument/2006/relationships/notesSlide" Target="/ppt/notesSlides/notesSlide20.xml" Id="R53ca0ad2a8a54cc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7eabb5bf64e41" /><Relationship Type="http://schemas.openxmlformats.org/officeDocument/2006/relationships/notesSlide" Target="/ppt/notesSlides/notesSlide21.xml" Id="R39ea3302ff0d476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0ab25407e4077" /><Relationship Type="http://schemas.openxmlformats.org/officeDocument/2006/relationships/notesSlide" Target="/ppt/notesSlides/notesSlide22.xml" Id="Rd80f9fe9419448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CA8798-19ED-4F95-AA81-53C5CBFA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90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A413C-459D-490D-B9FA-DED890FB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0"/>
            <a:ext cx="428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6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41EAE-6C80-4BA6-92E0-32474C60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76375"/>
            <a:ext cx="2476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C65335"/>
                </a:solidFill>
              </a:defRPr>
            </a:pPr>
            <a:r>
              <a:rPr sz="4950" b="1">
                <a:solidFill>
                  <a:srgbClr val="C65335"/>
                </a:solidFill>
              </a:rPr>
              <a:t>1811</a:t>
            </a:r>
          </a:p>
          <a:p xmlns:a="http://schemas.openxmlformats.org/drawingml/2006/main">
            <a:pPr algn="ctr">
              <a:defRPr sz="4950" b="1">
                <a:solidFill>
                  <a:srgbClr val="C65335"/>
                </a:solidFill>
              </a:defRPr>
            </a:pPr>
            <a:r>
              <a:rPr sz="4950" b="1">
                <a:solidFill>
                  <a:srgbClr val="C65335"/>
                </a:solidFill>
              </a:rPr>
              <a:t>→</a:t>
            </a:r>
          </a:p>
          <a:p xmlns:a="http://schemas.openxmlformats.org/drawingml/2006/main">
            <a:pPr algn="ctr">
              <a:defRPr sz="4950" b="1">
                <a:solidFill>
                  <a:srgbClr val="C65335"/>
                </a:solidFill>
              </a:defRPr>
            </a:pPr>
            <a:r>
              <a:rPr sz="4950" b="1">
                <a:solidFill>
                  <a:srgbClr val="C65335"/>
                </a:solidFill>
              </a:rPr>
              <a:t>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4B49B-1A58-4EAD-AA9F-DF528D56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65335"/>
                </a:solidFill>
              </a:defRPr>
            </a:pPr>
            <a:r>
              <a:rPr sz="1350" b="1">
                <a:solidFill>
                  <a:srgbClr val="C65335"/>
                </a:solidFill>
              </a:rPr>
              <a:t>劳动史 · 组织政治 ·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5B29C-5017-4B19-A417-78236E0C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7F2E8"/>
                </a:solidFill>
              </a:defRPr>
            </a:pPr>
            <a:r>
              <a:rPr sz="5250" b="1">
                <a:solidFill>
                  <a:srgbClr val="F7F2E8"/>
                </a:solidFill>
              </a:rPr>
              <a:t>砸机器之后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F81EC-A3CD-461D-BF3F-AE35ED87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EEE3C8"/>
                </a:solidFill>
              </a:defRPr>
            </a:pPr>
            <a:r>
              <a:rPr sz="2475" b="1">
                <a:solidFill>
                  <a:srgbClr val="EEE3C8"/>
                </a:solidFill>
              </a:rPr>
              <a:t>卢德运动的力量、失败与劳动政治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B7E9E-B244-465B-AA0C-B8986CC6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DBF9F"/>
                </a:solidFill>
              </a:defRPr>
            </a:pPr>
            <a:r>
              <a:rPr sz="1725" b="0">
                <a:solidFill>
                  <a:srgbClr val="CDBF9F"/>
                </a:solidFill>
              </a:rPr>
              <a:t>从工匠秘密结社、群众政治到 AI 时代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58DA0-BDB1-48DE-8751-ECA25A07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D7CDF-2894-4DC3-BC43-CBC1005E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66E"/>
                </a:solidFill>
              </a:defRPr>
            </a:pPr>
            <a:r>
              <a:rPr sz="825" b="0">
                <a:solidFill>
                  <a:srgbClr val="77766E"/>
                </a:solidFill>
              </a:rPr>
              <a:t>《The Leader of the Luddites》，1812 · Public Domain</a:t>
            </a:r>
          </a:p>
        </p:txBody>
      </p:sp>
    </p:spTree>
    <p:extLst>
      <p:ext uri="{BB962C8B-B14F-4D97-AF65-F5344CB8AC3E}">
        <p14:creationId xmlns:p14="http://schemas.microsoft.com/office/powerpoint/2010/main" val="11228575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E04DD-AAC0-4C62-B644-BE525310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65335"/>
                </a:solidFill>
              </a:defRPr>
            </a:pPr>
            <a:r>
              <a:rPr sz="1275" b="1">
                <a:solidFill>
                  <a:srgbClr val="C65335"/>
                </a:solidFill>
              </a:rPr>
              <a:t>开场的悖论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8998F-4815-4144-ACAE-EDD36747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2E8"/>
                </a:solidFill>
              </a:defRPr>
            </a:pPr>
            <a:r>
              <a:rPr sz="3600" b="1">
                <a:solidFill>
                  <a:srgbClr val="F7F2E8"/>
                </a:solidFill>
              </a:rPr>
              <a:t>他们会调查工价、组织代表、募集经费，</a:t>
            </a:r>
          </a:p>
          <a:p xmlns:a="http://schemas.openxmlformats.org/drawingml/2006/main">
            <a:pPr algn="l">
              <a:defRPr sz="3600" b="1">
                <a:solidFill>
                  <a:srgbClr val="F7F2E8"/>
                </a:solidFill>
              </a:defRPr>
            </a:pPr>
            <a:r>
              <a:rPr sz="3600" b="1">
                <a:solidFill>
                  <a:srgbClr val="F7F2E8"/>
                </a:solidFill>
              </a:rPr>
              <a:t>会使用暗号，也敢于直接行动。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0DCC9-0A0F-48EB-9B16-E6DD4A4E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C65335"/>
                </a:solidFill>
              </a:defRPr>
            </a:pPr>
            <a:r>
              <a:rPr sz="4500" b="1">
                <a:solidFill>
                  <a:srgbClr val="C65335"/>
                </a:solidFill>
              </a:rPr>
              <a:t>为什么还是输了？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5E51E-0DCE-47EA-AFB3-84D56E79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98189-9FCA-4D32-A529-3C9E9152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66E"/>
                </a:solidFill>
              </a:defRPr>
            </a:pPr>
            <a:r>
              <a:rPr sz="825" b="0">
                <a:solidFill>
                  <a:srgbClr val="77766E"/>
                </a:solidFill>
              </a:rPr>
              <a:t>纠正刻板印象之后，真正的问题才开始。</a:t>
            </a:r>
          </a:p>
        </p:txBody>
      </p:sp>
    </p:spTree>
    <p:extLst>
      <p:ext uri="{BB962C8B-B14F-4D97-AF65-F5344CB8AC3E}">
        <p14:creationId xmlns:p14="http://schemas.microsoft.com/office/powerpoint/2010/main" val="1083117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A83C45-FE93-462E-80E8-84BA316A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65335"/>
                </a:solidFill>
              </a:defRPr>
            </a:pPr>
            <a:r>
              <a:rPr sz="1200" b="1">
                <a:solidFill>
                  <a:srgbClr val="C65335"/>
                </a:solidFill>
              </a:rPr>
              <a:t>三个事实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C9C20-FAB2-4CA9-AD8D-6B60034C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2E8"/>
                </a:solidFill>
              </a:defRPr>
            </a:pPr>
            <a:r>
              <a:rPr sz="3600" b="1">
                <a:solidFill>
                  <a:srgbClr val="F7F2E8"/>
                </a:solidFill>
              </a:rPr>
              <a:t>不能用善意神话替换“愚昧反技术”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5FB89-7DF5-46BA-BD59-65F9A40E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6157"/>
                </a:solidFill>
              </a:defRPr>
            </a:pPr>
            <a:r>
              <a:rPr sz="1500" b="0">
                <a:solidFill>
                  <a:srgbClr val="666157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00923-B593-4AFB-959E-0DE99994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543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893E63-81F5-4651-8163-55AC04EF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543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08407A-B124-4136-B9AD-4F49BDB2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0325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不是没有组织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3B520-6034-4A0C-A7EB-520BF4C7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31242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地方网络、通信、资金、纪律和行动能力真实存在。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8079B-410C-43A2-9DFC-D8A4A1BF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3543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46D2F4-A783-4BFE-8B3B-8604F6D5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3543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3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50AF3-4039-4472-9D59-11189474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00325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不是统一组织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6C7DB8-CAE4-4C49-BC7D-63C6C017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33750"/>
            <a:ext cx="31242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General Ludd 是共享名字与战略迷雾，不是全国总司令。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50370-0E32-4D7F-8B28-68168028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33625"/>
            <a:ext cx="3543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132512-9795-4B64-8D1B-4203E93C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33625"/>
            <a:ext cx="3543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0F368B-9FAE-4494-BC14-8D2F681C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00325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也不是无辜受害者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124157-7C8E-4A61-B141-98B9256A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33750"/>
            <a:ext cx="31242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请愿与谈判之外，还有夺枪、纵火、刺杀和威慑。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908DBB-AA5A-4A72-B661-13B7FB66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C529E3-C2A3-48B1-A573-B84A2B45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66E"/>
                </a:solidFill>
              </a:defRPr>
            </a:pPr>
            <a:r>
              <a:rPr sz="825" b="0">
                <a:solidFill>
                  <a:srgbClr val="77766E"/>
                </a:solidFill>
              </a:rPr>
              <a:t>问题：地方正当性与扰乱能力，怎样成为持久政治力量？</a:t>
            </a:r>
          </a:p>
        </p:txBody>
      </p:sp>
    </p:spTree>
    <p:extLst>
      <p:ext uri="{BB962C8B-B14F-4D97-AF65-F5344CB8AC3E}">
        <p14:creationId xmlns:p14="http://schemas.microsoft.com/office/powerpoint/2010/main" val="1147495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514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8E347E-22B6-4C68-972F-0E124241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65335"/>
                </a:solidFill>
              </a:defRPr>
            </a:pPr>
            <a:r>
              <a:rPr sz="1200" b="1">
                <a:solidFill>
                  <a:srgbClr val="C65335"/>
                </a:solidFill>
              </a:rPr>
              <a:t>三种卢德主义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F2009-5412-43F6-962B-31C50BE7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2E8"/>
                </a:solidFill>
              </a:defRPr>
            </a:pPr>
            <a:r>
              <a:rPr sz="3600" b="1">
                <a:solidFill>
                  <a:srgbClr val="F7F2E8"/>
                </a:solidFill>
              </a:rPr>
              <a:t>三种劳动制度，形成三种政治能力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74C28-5A94-40F9-9CD0-17B63471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6157"/>
                </a:solidFill>
              </a:defRPr>
            </a:pPr>
            <a:r>
              <a:rPr sz="1500" b="0">
                <a:solidFill>
                  <a:srgbClr val="666157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28F03-CEE2-484A-9430-E2EA6936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543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96598-2A62-4708-8165-31E1AB4B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543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FAF79-0818-4B37-AB55-D869C5A3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05075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诺丁汉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5EB61-3940-4442-801F-EEE2472B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242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框架针织、家庭作坊、袜商转包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行业治理与代表政治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1514F-0342-4DC8-91C9-04AAF3A2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38375"/>
            <a:ext cx="3543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8985D-B967-4898-94F6-427C12F3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38375"/>
            <a:ext cx="3543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3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17329-BF0F-4344-BFC9-641E9806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05075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约克郡西区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41E19-F3C1-4656-B099-771F7234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38500"/>
            <a:ext cx="31242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熟练剪绒、集中磨坊、设防生产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秘密纪律与武装强制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DC3F4B-481E-4FD4-AF52-8118C789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38375"/>
            <a:ext cx="3543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B4B923-1761-41D2-B479-4431A3C3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38375"/>
            <a:ext cx="3543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E17EE-4043-40AC-B0EE-DCCE1762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05075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兰开夏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8905F9-7A38-4335-9B86-82F51D23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38500"/>
            <a:ext cx="31242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手织、棉纺厂、城市群众并存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异质的群众政治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DC5465-55DC-44DE-BD3D-DA9E9F23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BE7E44-0F96-4B04-90F1-D2308C25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66E"/>
                </a:solidFill>
              </a:defRPr>
            </a:pPr>
            <a:r>
              <a:rPr sz="825" b="0">
                <a:solidFill>
                  <a:srgbClr val="77766E"/>
                </a:solidFill>
              </a:rPr>
              <a:t>差异不是背景；差异决定他们能做什么，也决定怎样失败。</a:t>
            </a:r>
          </a:p>
        </p:txBody>
      </p:sp>
    </p:spTree>
    <p:extLst>
      <p:ext uri="{BB962C8B-B14F-4D97-AF65-F5344CB8AC3E}">
        <p14:creationId xmlns:p14="http://schemas.microsoft.com/office/powerpoint/2010/main" val="8385027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14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8C16B9-C3C8-435B-8AEC-06FA2EAD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65335"/>
                </a:solidFill>
              </a:defRPr>
            </a:pPr>
            <a:r>
              <a:rPr sz="1200" b="1">
                <a:solidFill>
                  <a:srgbClr val="C65335"/>
                </a:solidFill>
              </a:rPr>
              <a:t>诺丁汉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E1616-25B5-4EB8-AB89-DFD126F8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2E8"/>
                </a:solidFill>
              </a:defRPr>
            </a:pPr>
            <a:r>
              <a:rPr sz="3600" b="1">
                <a:solidFill>
                  <a:srgbClr val="F7F2E8"/>
                </a:solidFill>
              </a:rPr>
              <a:t>机器按它怎样重组生产，而不是按“新／旧”被选择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2684E-7B3A-40C4-8483-A477F64D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6157"/>
                </a:solidFill>
              </a:defRPr>
            </a:pPr>
            <a:r>
              <a:rPr sz="1500" b="0">
                <a:solidFill>
                  <a:srgbClr val="666157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32CD7-438C-464C-A3FC-DF1114BB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CF7DE-CF0D-4005-968F-0CE9BFE0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3AA47"/>
                </a:solidFill>
              </a:defRPr>
            </a:pPr>
            <a:r>
              <a:rPr sz="1575" b="1">
                <a:solidFill>
                  <a:srgbClr val="D3AA47"/>
                </a:solidFill>
              </a:rPr>
              <a:t>工价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B0917-FEA2-4F2B-B488-5FF010AD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38375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压低计件报酬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9773C-7BD3-43C0-B926-629D76AB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38375"/>
            <a:ext cx="508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99179"/>
                </a:solidFill>
              </a:defRPr>
            </a:pPr>
            <a:r>
              <a:rPr sz="1425" b="0">
                <a:solidFill>
                  <a:srgbClr val="E99179"/>
                </a:solidFill>
              </a:rPr>
              <a:t>破坏接受低价者使用的机架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D9971-AC71-4C41-8F34-627EEC77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3EC72-9F65-46DC-AAE7-0DBF1DCF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3AA47"/>
                </a:solidFill>
              </a:defRPr>
            </a:pPr>
            <a:r>
              <a:rPr sz="1575" b="1">
                <a:solidFill>
                  <a:srgbClr val="D3AA47"/>
                </a:solidFill>
              </a:rPr>
              <a:t>产品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1C9E2-C978-4D26-B047-49795765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81325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宽幅织物裁剪缝合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C5E43-A4A9-4D30-A512-7DC57752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81325"/>
            <a:ext cx="508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99179"/>
                </a:solidFill>
              </a:defRPr>
            </a:pPr>
            <a:r>
              <a:rPr sz="1425" b="0">
                <a:solidFill>
                  <a:srgbClr val="E99179"/>
                </a:solidFill>
              </a:rPr>
              <a:t>争论何为合格产品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66F65-693C-4545-8369-7E449F55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CEC4AB-83FC-445F-887C-8C2B5B98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3AA47"/>
                </a:solidFill>
              </a:defRPr>
            </a:pPr>
            <a:r>
              <a:rPr sz="1575" b="1">
                <a:solidFill>
                  <a:srgbClr val="D3AA47"/>
                </a:solidFill>
              </a:rPr>
              <a:t>资格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D96B89-075A-4C6B-BC21-079D61F1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24275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非学徒进入生产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E88BD-776E-4F7C-B758-6F3358A6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24275"/>
            <a:ext cx="508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99179"/>
                </a:solidFill>
              </a:defRPr>
            </a:pPr>
            <a:r>
              <a:rPr sz="1425" b="0">
                <a:solidFill>
                  <a:srgbClr val="E99179"/>
                </a:solidFill>
              </a:rPr>
              <a:t>保护技能，也排除新人和女性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2DCDDE-DCD3-4BD7-A8E1-B3AC6D13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915FD6-71B4-46FF-B828-93A43195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3AA47"/>
                </a:solidFill>
              </a:defRPr>
            </a:pPr>
            <a:r>
              <a:rPr sz="1575" b="1">
                <a:solidFill>
                  <a:srgbClr val="D3AA47"/>
                </a:solidFill>
              </a:rPr>
              <a:t>支付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0FCFF6-5939-4EDC-BC7F-981184D5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67225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实物工资与机架租金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0CE9F-2449-4AEC-ABA3-D4E63F91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67225"/>
            <a:ext cx="508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99179"/>
                </a:solidFill>
              </a:defRPr>
            </a:pPr>
            <a:r>
              <a:rPr sz="1425" b="0">
                <a:solidFill>
                  <a:srgbClr val="E99179"/>
                </a:solidFill>
              </a:rPr>
              <a:t>要求现金、公平价格与规制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1E8364-4DA4-499D-8B39-F13C4708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34CD5A-6EEC-44B4-A80C-17074BF3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66E"/>
                </a:solidFill>
              </a:defRPr>
            </a:pPr>
            <a:r>
              <a:rPr sz="825" b="0">
                <a:solidFill>
                  <a:srgbClr val="77766E"/>
                </a:solidFill>
              </a:rPr>
              <a:t>机器、工价、产品、技能与权威，是同一场生产政治。</a:t>
            </a:r>
          </a:p>
        </p:txBody>
      </p:sp>
    </p:spTree>
    <p:extLst>
      <p:ext uri="{BB962C8B-B14F-4D97-AF65-F5344CB8AC3E}">
        <p14:creationId xmlns:p14="http://schemas.microsoft.com/office/powerpoint/2010/main" val="10667020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14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5BBCD7-DB2C-4631-A64B-A6534860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65335"/>
                </a:solidFill>
              </a:defRPr>
            </a:pPr>
            <a:r>
              <a:rPr sz="1200" b="1">
                <a:solidFill>
                  <a:srgbClr val="C65335"/>
                </a:solidFill>
              </a:rPr>
              <a:t>谈判与威胁并存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40397-74B2-481D-BF89-729F27C5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2E8"/>
                </a:solidFill>
              </a:defRPr>
            </a:pPr>
            <a:r>
              <a:rPr sz="3600" b="1">
                <a:solidFill>
                  <a:srgbClr val="F7F2E8"/>
                </a:solidFill>
              </a:rPr>
              <a:t>毁机不是谈判的反面，</a:t>
            </a:r>
          </a:p>
          <a:p xmlns:a="http://schemas.openxmlformats.org/drawingml/2006/main">
            <a:pPr algn="l">
              <a:defRPr sz="3600" b="1">
                <a:solidFill>
                  <a:srgbClr val="F7F2E8"/>
                </a:solidFill>
              </a:defRPr>
            </a:pPr>
            <a:r>
              <a:rPr sz="3600" b="1">
                <a:solidFill>
                  <a:srgbClr val="F7F2E8"/>
                </a:solidFill>
              </a:rPr>
              <a:t>而是让协议具有约束力的手段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B860C-8118-457E-9D03-778289F5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6157"/>
                </a:solidFill>
              </a:defRPr>
            </a:pPr>
            <a:r>
              <a:rPr sz="1500" b="0">
                <a:solidFill>
                  <a:srgbClr val="666157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10132-9216-4341-94D7-6DD4D9AB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400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32215-5970-4CB5-8064-480C19C9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4006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8F003-1C1A-4444-BF15-40930CAB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4981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公开代表政治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94AAB-9C14-47D2-B143-CACA406E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81375"/>
            <a:ext cx="4981575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会议广告 · 具名秘书</a:t>
            </a:r>
          </a:p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工价谈判 · 行业调查</a:t>
            </a:r>
          </a:p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议会请愿 · 准规制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38385E-148C-43A5-B7CB-747D217D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81250"/>
            <a:ext cx="5400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15F4DB-AAE5-4E0B-80CD-AD13899C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81250"/>
            <a:ext cx="54006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3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D10E7-08C6-41E3-9A79-80C646DC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47950"/>
            <a:ext cx="4981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隐蔽直接行动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8D7B9-9315-4604-ABAE-28627C81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81375"/>
            <a:ext cx="4981575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匿名委员会 · 遮字通信</a:t>
            </a:r>
          </a:p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威胁信 · 夜间小队</a:t>
            </a:r>
          </a:p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定点毁架 · 行动纪律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58F94-EB0C-476C-A3D0-B352E64B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6A0787-6081-48D9-9856-8A545660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66E"/>
                </a:solidFill>
              </a:defRPr>
            </a:pPr>
            <a:r>
              <a:rPr sz="825" b="0">
                <a:solidFill>
                  <a:srgbClr val="77766E"/>
                </a:solidFill>
              </a:rPr>
              <a:t>谁代表工人？协议能约束多少雇主？</a:t>
            </a:r>
          </a:p>
        </p:txBody>
      </p:sp>
    </p:spTree>
    <p:extLst>
      <p:ext uri="{BB962C8B-B14F-4D97-AF65-F5344CB8AC3E}">
        <p14:creationId xmlns:p14="http://schemas.microsoft.com/office/powerpoint/2010/main" val="10190605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847EA1-5E41-4A94-A201-71C562B4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13B98-2379-4CD9-B191-CE143DB0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910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6B3023"/>
                </a:solidFill>
              </a:defRPr>
            </a:pPr>
            <a:r>
              <a:rPr sz="3150" b="1">
                <a:solidFill>
                  <a:srgbClr val="6B3023"/>
                </a:solidFill>
              </a:rPr>
              <a:t>RAWFOLDS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87B4A-39C8-4ABD-BF54-D1DA8FBC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65335"/>
                </a:solidFill>
              </a:defRPr>
            </a:pPr>
            <a:r>
              <a:rPr sz="1275" b="1">
                <a:solidFill>
                  <a:srgbClr val="C65335"/>
                </a:solidFill>
              </a:rPr>
              <a:t>约克郡西区 · RAWFOLDS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C7AE9-BE71-441E-8EB0-061F9F52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7F2E8"/>
                </a:solidFill>
              </a:defRPr>
            </a:pPr>
            <a:r>
              <a:rPr sz="3900" b="1">
                <a:solidFill>
                  <a:srgbClr val="F7F2E8"/>
                </a:solidFill>
              </a:rPr>
              <a:t>生产空间已经设防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17EC2-AEA8-45A2-AD48-8F3A346C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5400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D8C8C-B08F-4C22-820C-FA917533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54006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961C7-0177-4AD0-B90B-941448C9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0325"/>
            <a:ext cx="4981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地方行动能力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4F4C0-8A30-4F88-A6E2-0C66965E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4981575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誓约 · 夺枪 · 队列</a:t>
            </a:r>
          </a:p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骑马警戒 · 夜袭</a:t>
            </a:r>
          </a:p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社区沉默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B1BAC4-B1C2-4F41-AF32-D2479F52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33625"/>
            <a:ext cx="5400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9F771-AAB7-4B37-80EB-A0FF652E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33625"/>
            <a:ext cx="54006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3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BF795-6485-4285-8FB4-D0E9F360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00325"/>
            <a:ext cx="4981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设防生产能力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14D1B-E16B-41D7-93F3-0B981D3B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33750"/>
            <a:ext cx="4981575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加固门窗 · 厂卫 · 驻军</a:t>
            </a:r>
          </a:p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情报 · 悬赏 · 追诉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E696ED-7584-4457-B990-5F86CFB3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4F7C15-E6DF-422A-8662-F21582D0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66E"/>
                </a:solidFill>
              </a:defRPr>
            </a:pPr>
            <a:r>
              <a:rPr sz="825" b="0">
                <a:solidFill>
                  <a:srgbClr val="77766E"/>
                </a:solidFill>
              </a:rPr>
              <a:t>1812 年 4 月：攻击者未能破门，资本与国家的军事优势显现。</a:t>
            </a:r>
          </a:p>
        </p:txBody>
      </p:sp>
    </p:spTree>
    <p:extLst>
      <p:ext uri="{BB962C8B-B14F-4D97-AF65-F5344CB8AC3E}">
        <p14:creationId xmlns:p14="http://schemas.microsoft.com/office/powerpoint/2010/main" val="7956949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58440C-B514-403B-8072-BD0F2E75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65335"/>
                </a:solidFill>
              </a:defRPr>
            </a:pPr>
            <a:r>
              <a:rPr sz="1200" b="1">
                <a:solidFill>
                  <a:srgbClr val="C65335"/>
                </a:solidFill>
              </a:rPr>
              <a:t>约克特别巡回法庭 · 1813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78D25-9A5E-49BC-8EAB-027DCDA4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2E8"/>
                </a:solidFill>
              </a:defRPr>
            </a:pPr>
            <a:r>
              <a:rPr sz="3600" b="1">
                <a:solidFill>
                  <a:srgbClr val="F7F2E8"/>
                </a:solidFill>
              </a:rPr>
              <a:t>国家可以把一个共同危机拆成个体罪名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459C3-0999-4697-A9D3-14B48249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6157"/>
                </a:solidFill>
              </a:defRPr>
            </a:pPr>
            <a:r>
              <a:rPr sz="1500" b="0">
                <a:solidFill>
                  <a:srgbClr val="666157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6EF08-085F-4F7A-A6B6-3A8C3284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614613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4D8A6-BF48-4E67-8340-D6982E7C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61461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3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CE648-64AC-4335-A643-3154428F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195513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谋杀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CF6DFA-0451-40C1-8690-258D19FD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81375"/>
            <a:ext cx="2195513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把政治升级重构为普通刑事暴力。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58A30-FA26-4E61-9ACF-66B3117F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381250"/>
            <a:ext cx="2614613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E8D69-8DB4-49BE-9C5A-F0F95E7A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381250"/>
            <a:ext cx="261461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3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4FD3F-5AA3-48A9-970D-3681355F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2647950"/>
            <a:ext cx="2195513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抢劫／入室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E42F5-949F-4F73-A921-444E06F3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381375"/>
            <a:ext cx="2195513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把筹枪与准备拆成财产犯罪。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5D495-9981-47C1-A7EC-535CE3DC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81250"/>
            <a:ext cx="2614613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4E7CE-89E3-4560-B257-CF41DE7D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81250"/>
            <a:ext cx="261461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3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0F9AF-2A90-4485-9A4C-21A08D3A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47950"/>
            <a:ext cx="2195513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暴动拆毁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6DA24C-A3A2-4A2D-A7C3-886A7BC5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81375"/>
            <a:ext cx="2195513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把共同目标还原为个体行为。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2F0C6A-6923-4E70-8685-1E07EF2F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2381250"/>
            <a:ext cx="2614613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41EF10-7DB4-4D7B-A20B-039BC618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2381250"/>
            <a:ext cx="261461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3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65C7B6-4CB4-49FC-8F2C-84ECB8A9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2647950"/>
            <a:ext cx="2195513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非法宣誓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0498EA-5AD5-4702-B20D-D47BCDE0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3381375"/>
            <a:ext cx="2195513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直接打击秘密纪律与联系。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70117E-4C78-4EFE-AF22-932B21DA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DBF9F"/>
                </a:solidFill>
              </a:defRPr>
            </a:pPr>
            <a:r>
              <a:rPr sz="1725" b="1">
                <a:solidFill>
                  <a:srgbClr val="CDBF9F"/>
                </a:solidFill>
              </a:rPr>
              <a:t>66 名被告 · 18 人获资本刑 · 17 人被处决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2FC2DA-0C69-4121-80DE-ACB69A6B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765965-B3E2-4438-BDB6-C757122E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66E"/>
                </a:solidFill>
              </a:defRPr>
            </a:pPr>
            <a:r>
              <a:rPr sz="825" b="0">
                <a:solidFill>
                  <a:srgbClr val="77766E"/>
                </a:solidFill>
              </a:rPr>
              <a:t>并非“17 名砸机者因同一罪名被绞死”。</a:t>
            </a:r>
          </a:p>
        </p:txBody>
      </p:sp>
    </p:spTree>
    <p:extLst>
      <p:ext uri="{BB962C8B-B14F-4D97-AF65-F5344CB8AC3E}">
        <p14:creationId xmlns:p14="http://schemas.microsoft.com/office/powerpoint/2010/main" val="3490923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5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902691-1587-4084-9795-3FB1235A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65335"/>
                </a:solidFill>
              </a:defRPr>
            </a:pPr>
            <a:r>
              <a:rPr sz="1200" b="1">
                <a:solidFill>
                  <a:srgbClr val="C65335"/>
                </a:solidFill>
              </a:rPr>
              <a:t>兰开夏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6C79F-483C-49CA-92AC-055588CD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2E8"/>
                </a:solidFill>
              </a:defRPr>
            </a:pPr>
            <a:r>
              <a:rPr sz="3600" b="1">
                <a:solidFill>
                  <a:srgbClr val="F7F2E8"/>
                </a:solidFill>
              </a:rPr>
              <a:t>机器、面包、工资与政治改革</a:t>
            </a:r>
          </a:p>
          <a:p xmlns:a="http://schemas.openxmlformats.org/drawingml/2006/main">
            <a:pPr algn="l">
              <a:defRPr sz="3600" b="1">
                <a:solidFill>
                  <a:srgbClr val="F7F2E8"/>
                </a:solidFill>
              </a:defRPr>
            </a:pPr>
            <a:r>
              <a:rPr sz="3600" b="1">
                <a:solidFill>
                  <a:srgbClr val="F7F2E8"/>
                </a:solidFill>
              </a:rPr>
              <a:t>没有整齐合成一种诉求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6A825-DD2C-4366-BA04-BD85EF6B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6157"/>
                </a:solidFill>
              </a:defRPr>
            </a:pPr>
            <a:r>
              <a:rPr sz="1500" b="0">
                <a:solidFill>
                  <a:srgbClr val="666157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10BAA-0368-4B13-B068-6A4F4D14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5433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2233B-0C81-41BB-B7A9-CE105710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543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448DF-3E47-499B-A843-F43BF49A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0325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群众扩张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1C80A-DF8A-4D00-81AD-0819824B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31242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动力织机、工资、失业、粮价、战争和政治改革相互叠加。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782F4-6C7B-4126-BCD0-1216F44F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35433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EB8112-3E44-46F9-95F4-AD0E9F70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3543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3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7E16A-6430-46E2-82E1-1309ADEF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00325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内部排除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9BA63-3908-4512-B813-C85436F8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33750"/>
            <a:ext cx="31242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一些男性工人要求解雇女性；“合法工人”的边界本身成为斗争。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176F00-6E32-42CF-AE48-E6B6A33D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33625"/>
            <a:ext cx="35433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6BFBD-E400-4B81-BD8B-EC022301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33625"/>
            <a:ext cx="3543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4444A-6ACF-46C1-8EFC-5BFBE244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00325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国家分案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6BF70-E074-49E7-A9A1-9370C9BA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33750"/>
            <a:ext cx="31242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大规模人群被拆解为在场、破窗、取燃料与纵火等责任。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74D7C4-411A-4142-A327-AA1DBB23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0A7078-1E39-444A-8C13-0BDBFD80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66E"/>
                </a:solidFill>
              </a:defRPr>
            </a:pPr>
            <a:r>
              <a:rPr sz="825" b="0">
                <a:solidFill>
                  <a:srgbClr val="77766E"/>
                </a:solidFill>
              </a:rPr>
              <a:t>共同规范能提供团结，也能规定谁不属于“我们”。</a:t>
            </a:r>
          </a:p>
        </p:txBody>
      </p:sp>
    </p:spTree>
    <p:extLst>
      <p:ext uri="{BB962C8B-B14F-4D97-AF65-F5344CB8AC3E}">
        <p14:creationId xmlns:p14="http://schemas.microsoft.com/office/powerpoint/2010/main" val="6400164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8F4567-F2EA-4909-9587-7C0F905F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65335"/>
                </a:solidFill>
              </a:defRPr>
            </a:pPr>
            <a:r>
              <a:rPr sz="1200" b="1">
                <a:solidFill>
                  <a:srgbClr val="C65335"/>
                </a:solidFill>
              </a:rPr>
              <a:t>力量转换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253D9-55F8-43E2-8CB1-DA89FA7D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2E8"/>
                </a:solidFill>
              </a:defRPr>
            </a:pPr>
            <a:r>
              <a:rPr sz="3600" b="1">
                <a:solidFill>
                  <a:srgbClr val="F7F2E8"/>
                </a:solidFill>
              </a:rPr>
              <a:t>卢德派不是没有组织；他们没有完成四次转换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BE155-E307-4673-8088-DF569ADE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6157"/>
                </a:solidFill>
              </a:defRPr>
            </a:pPr>
            <a:r>
              <a:rPr sz="1500" b="0">
                <a:solidFill>
                  <a:srgbClr val="666157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57BDE-209B-4AE5-BBA7-0D3E243F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5802C-8D2E-41F2-A1E0-9E10A5BA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DBF9F"/>
                </a:solidFill>
              </a:defRPr>
            </a:pPr>
            <a:r>
              <a:rPr sz="1800" b="0">
                <a:solidFill>
                  <a:srgbClr val="CDBF9F"/>
                </a:solidFill>
              </a:rPr>
              <a:t>地方信任与行业知识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20894-B88C-4B78-BBCC-ADD65550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65335"/>
                </a:solidFill>
              </a:defRPr>
            </a:pPr>
            <a:r>
              <a:rPr sz="2250" b="1">
                <a:solidFill>
                  <a:srgbClr val="C65335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3E668-5376-4D58-9367-3F39C994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383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2E8"/>
                </a:solidFill>
              </a:defRPr>
            </a:pPr>
            <a:r>
              <a:rPr sz="1950" b="1">
                <a:solidFill>
                  <a:srgbClr val="F7F2E8"/>
                </a:solidFill>
              </a:rPr>
              <a:t>跨地域、跨行业协调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8B470-E889-4011-AA24-BF87EEB6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CAE7D-9166-48F9-B6C5-FA8DD9D9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DBF9F"/>
                </a:solidFill>
              </a:defRPr>
            </a:pPr>
            <a:r>
              <a:rPr sz="1800" b="0">
                <a:solidFill>
                  <a:srgbClr val="CDBF9F"/>
                </a:solidFill>
              </a:rPr>
              <a:t>秘密纪律与行动安全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31F2A-F89E-47D8-8CC7-B08BAA76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7657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65335"/>
                </a:solidFill>
              </a:defRPr>
            </a:pPr>
            <a:r>
              <a:rPr sz="2250" b="1">
                <a:solidFill>
                  <a:srgbClr val="C65335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DCF24-8F4E-4B81-B4A1-1C7F9201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765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2E8"/>
                </a:solidFill>
              </a:defRPr>
            </a:pPr>
            <a:r>
              <a:rPr sz="1950" b="1">
                <a:solidFill>
                  <a:srgbClr val="F7F2E8"/>
                </a:solidFill>
              </a:rPr>
              <a:t>公开授权与内部问责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A5184-0F11-461F-B13E-9D2C3F0E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F3900-8170-4C08-91D9-1D731767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DBF9F"/>
                </a:solidFill>
              </a:defRPr>
            </a:pPr>
            <a:r>
              <a:rPr sz="1800" b="0">
                <a:solidFill>
                  <a:srgbClr val="CDBF9F"/>
                </a:solidFill>
              </a:rPr>
              <a:t>破坏性杠杆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59CE77-7EBD-4AFF-ACB7-6B4CEF11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1477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65335"/>
                </a:solidFill>
              </a:defRPr>
            </a:pPr>
            <a:r>
              <a:rPr sz="2250" b="1">
                <a:solidFill>
                  <a:srgbClr val="C65335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8DF31-4428-4B04-B616-57B970D2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147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2E8"/>
                </a:solidFill>
              </a:defRPr>
            </a:pPr>
            <a:r>
              <a:rPr sz="1950" b="1">
                <a:solidFill>
                  <a:srgbClr val="F7F2E8"/>
                </a:solidFill>
              </a:rPr>
              <a:t>财政、记忆与持续谈判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9435D-F431-43C8-8669-99C282B4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16EC3A-562C-400F-A044-D6B998DF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DBF9F"/>
                </a:solidFill>
              </a:defRPr>
            </a:pPr>
            <a:r>
              <a:rPr sz="1800" b="0">
                <a:solidFill>
                  <a:srgbClr val="CDBF9F"/>
                </a:solidFill>
              </a:rPr>
              <a:t>对个别雇主施压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778BEC-444A-4F9E-8193-B399EBFC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5297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65335"/>
                </a:solidFill>
              </a:defRPr>
            </a:pPr>
            <a:r>
              <a:rPr sz="2250" b="1">
                <a:solidFill>
                  <a:srgbClr val="C65335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5DDE22-39E2-4242-AE23-4BC121BA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529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2E8"/>
                </a:solidFill>
              </a:defRPr>
            </a:pPr>
            <a:r>
              <a:rPr sz="1950" b="1">
                <a:solidFill>
                  <a:srgbClr val="F7F2E8"/>
                </a:solidFill>
              </a:rPr>
              <a:t>改造法律、制度与国家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A56B87-5D49-476C-A36E-346B65DA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C86260-1474-484F-9F79-90DCFDCD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66E"/>
                </a:solidFill>
              </a:defRPr>
            </a:pPr>
            <a:r>
              <a:rPr sz="825" b="0">
                <a:solidFill>
                  <a:srgbClr val="77766E"/>
                </a:solidFill>
              </a:rPr>
              <a:t>这是比较历史的推论，不是“缺少先锋队”的反事实判决。</a:t>
            </a:r>
          </a:p>
        </p:txBody>
      </p:sp>
    </p:spTree>
    <p:extLst>
      <p:ext uri="{BB962C8B-B14F-4D97-AF65-F5344CB8AC3E}">
        <p14:creationId xmlns:p14="http://schemas.microsoft.com/office/powerpoint/2010/main" val="374518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FD0B3E-6975-4767-A9DB-9313BEBB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65335"/>
                </a:solidFill>
              </a:defRPr>
            </a:pPr>
            <a:r>
              <a:rPr sz="1200" b="1">
                <a:solidFill>
                  <a:srgbClr val="C65335"/>
                </a:solidFill>
              </a:rPr>
              <a:t>国家不是外部裁判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DB3EB-4454-4947-9DD5-6D6712F7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2E8"/>
                </a:solidFill>
              </a:defRPr>
            </a:pPr>
            <a:r>
              <a:rPr sz="3600" b="1">
                <a:solidFill>
                  <a:srgbClr val="F7F2E8"/>
                </a:solidFill>
              </a:rPr>
              <a:t>技术变化由所有权、强制与分类共同建构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4ABAF-BAA4-4573-A2C7-2F406CC0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6157"/>
                </a:solidFill>
              </a:defRPr>
            </a:pPr>
            <a:r>
              <a:rPr sz="1500" b="0">
                <a:solidFill>
                  <a:srgbClr val="666157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02DDF-A45B-41E9-97DB-4F79279E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35433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B12E2-8713-4FFB-9C4F-DC265DDA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3543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D4931-6793-49AD-B996-2A5B88D7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5575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生产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7CF21-80AC-4A14-93B1-F72399C2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312420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谁拥有机器、订单、工厂和投资决定权？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CA4D0-CA3F-4D37-8D50-3E86DECF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28875"/>
            <a:ext cx="35433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EE3E6-2DE3-41B6-9B2F-6C85EB43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28875"/>
            <a:ext cx="3543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3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2CE78-6D73-4D01-A2F0-B2C5B918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95575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强制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6C2AF-CAF7-475A-B6A6-AE478E62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0"/>
            <a:ext cx="312420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谁可以设防、驻军、悬赏、监视和保护证人？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363D5-C9AD-42F6-8728-D0DA9B3F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28875"/>
            <a:ext cx="35433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D306BF-1074-4E6C-AB94-02EB9A1D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28875"/>
            <a:ext cx="3543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F2A8B-101F-4935-9EF0-C697C66D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95575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分类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CA2CCD-9EBE-46C8-B41D-AFC10DE3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29000"/>
            <a:ext cx="312420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谁能把危机拆成毁机、抢劫、宣誓和谋杀？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E2056F-C393-405A-92F4-6FDE0FB4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8D629A-DD45-4B69-AE82-DDEDBF6D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66E"/>
                </a:solidFill>
              </a:defRPr>
            </a:pPr>
            <a:r>
              <a:rPr sz="825" b="0">
                <a:solidFill>
                  <a:srgbClr val="77766E"/>
                </a:solidFill>
              </a:rPr>
              <a:t>局部胜利若不能进入法律与国家尺度，随时可能被抵消。</a:t>
            </a:r>
          </a:p>
        </p:txBody>
      </p:sp>
    </p:spTree>
    <p:extLst>
      <p:ext uri="{BB962C8B-B14F-4D97-AF65-F5344CB8AC3E}">
        <p14:creationId xmlns:p14="http://schemas.microsoft.com/office/powerpoint/2010/main" val="18228827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4B4FBF-6063-46BE-BB88-FF550C1F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65335"/>
                </a:solidFill>
              </a:defRPr>
            </a:pPr>
            <a:r>
              <a:rPr sz="1200" b="1">
                <a:solidFill>
                  <a:srgbClr val="C65335"/>
                </a:solidFill>
              </a:rPr>
              <a:t>史学争论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A1D89-5C51-460D-8AE2-BF2A7A4E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2E8"/>
                </a:solidFill>
              </a:defRPr>
            </a:pPr>
            <a:r>
              <a:rPr sz="3600" b="1">
                <a:solidFill>
                  <a:srgbClr val="F7F2E8"/>
                </a:solidFill>
              </a:rPr>
              <a:t>理论不是四副互补眼镜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1502B-D0B8-4176-A913-2AE910C9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6157"/>
                </a:solidFill>
              </a:defRPr>
            </a:pPr>
            <a:r>
              <a:rPr sz="1500" b="0">
                <a:solidFill>
                  <a:srgbClr val="666157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C93D4-D426-420F-8EBA-E2C3BE00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0A7F2-69D6-4E74-8354-88FE6E87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3AA47"/>
                </a:solidFill>
              </a:defRPr>
            </a:pPr>
            <a:r>
              <a:rPr sz="1575" b="1">
                <a:solidFill>
                  <a:srgbClr val="D3AA47"/>
                </a:solidFill>
              </a:rPr>
              <a:t>霍布斯鲍姆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4F7CB-50B9-4F87-8687-550A2FE5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38375"/>
            <a:ext cx="3924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以骚乱进行集体谈判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ACBBD-36FA-4E41-B29B-337D6B84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38375"/>
            <a:ext cx="422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99179"/>
                </a:solidFill>
              </a:defRPr>
            </a:pPr>
            <a:r>
              <a:rPr sz="1425" b="0">
                <a:solidFill>
                  <a:srgbClr val="E99179"/>
                </a:solidFill>
              </a:rPr>
              <a:t>压低共同体规范与政治想象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1C844B-A984-4059-A4D6-BEDAB02C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671D5-F7EB-4EA6-80BA-214DC7EB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3AA47"/>
                </a:solidFill>
              </a:defRPr>
            </a:pPr>
            <a:r>
              <a:rPr sz="1575" b="1">
                <a:solidFill>
                  <a:srgbClr val="D3AA47"/>
                </a:solidFill>
              </a:rPr>
              <a:t>汤普森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751C4-ABB1-401C-99A9-0A2ACBF4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81325"/>
            <a:ext cx="3924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经验、斗争与阶级形成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B2C3C-1CCF-4148-BE95-85ECC874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81325"/>
            <a:ext cx="422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99179"/>
                </a:solidFill>
              </a:defRPr>
            </a:pPr>
            <a:r>
              <a:rPr sz="1425" b="0">
                <a:solidFill>
                  <a:srgbClr val="E99179"/>
                </a:solidFill>
              </a:rPr>
              <a:t>可能读出过于完整的全国故事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E1355D-8317-402C-8160-50F773B4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3E3C5D-D788-467A-AE81-0F56A7C7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3AA47"/>
                </a:solidFill>
              </a:defRPr>
            </a:pPr>
            <a:r>
              <a:rPr sz="1575" b="1">
                <a:solidFill>
                  <a:srgbClr val="D3AA47"/>
                </a:solidFill>
              </a:rPr>
              <a:t>托米斯等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E4E361-B47F-4CFB-B54E-9D85A862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24275"/>
            <a:ext cx="3924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行业、地区与目标差异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F58D8D-9245-408F-A95B-2DF70C39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24275"/>
            <a:ext cx="422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99179"/>
                </a:solidFill>
              </a:defRPr>
            </a:pPr>
            <a:r>
              <a:rPr sz="1425" b="0">
                <a:solidFill>
                  <a:srgbClr val="E99179"/>
                </a:solidFill>
              </a:rPr>
              <a:t>可能把政治化缩回行业纠纷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56E946-3D17-4218-8D27-CDFE6628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A1C949-D73A-426D-B588-B5EB7A27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3AA47"/>
                </a:solidFill>
              </a:defRPr>
            </a:pPr>
            <a:r>
              <a:rPr sz="1575" b="1">
                <a:solidFill>
                  <a:srgbClr val="D3AA47"/>
                </a:solidFill>
              </a:rPr>
              <a:t>兰德尔／纳维卡斯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1D39D1-98B1-4186-8D3D-BB2DC0C8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67225"/>
            <a:ext cx="3924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抗争连续体；神话组织行动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08B3E6-86EC-4B1E-B308-F6A5538F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67225"/>
            <a:ext cx="422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99179"/>
                </a:solidFill>
              </a:defRPr>
            </a:pPr>
            <a:r>
              <a:rPr sz="1425" b="0">
                <a:solidFill>
                  <a:srgbClr val="E99179"/>
                </a:solidFill>
              </a:rPr>
              <a:t>象征统一不等于实体统一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BFFF80-4782-432A-B455-9E2BB05F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9DF039-B71C-495F-9545-132DFFF0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66E"/>
                </a:solidFill>
              </a:defRPr>
            </a:pPr>
            <a:r>
              <a:rPr sz="825" b="0">
                <a:solidFill>
                  <a:srgbClr val="77766E"/>
                </a:solidFill>
              </a:rPr>
              <a:t>运动为什么有力、又为什么不足，正来自这些解释的内在张力。</a:t>
            </a:r>
          </a:p>
        </p:txBody>
      </p:sp>
    </p:spTree>
    <p:extLst>
      <p:ext uri="{BB962C8B-B14F-4D97-AF65-F5344CB8AC3E}">
        <p14:creationId xmlns:p14="http://schemas.microsoft.com/office/powerpoint/2010/main" val="14619464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BD018F-50E1-4166-A09B-E3A5C455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65335"/>
                </a:solidFill>
              </a:defRPr>
            </a:pPr>
            <a:r>
              <a:rPr sz="1200" b="1">
                <a:solidFill>
                  <a:srgbClr val="C65335"/>
                </a:solidFill>
              </a:rPr>
              <a:t>砸机器之后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A8F77-05C8-4F57-8D0B-1D2B4FD2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2E8"/>
                </a:solidFill>
              </a:defRPr>
            </a:pPr>
            <a:r>
              <a:rPr sz="3600" b="1">
                <a:solidFill>
                  <a:srgbClr val="F7F2E8"/>
                </a:solidFill>
              </a:rPr>
              <a:t>每一种扩大力量的形式，也会制造新的代表关系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23E09-7570-4657-82EC-1297F45C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6157"/>
                </a:solidFill>
              </a:defRPr>
            </a:pPr>
            <a:r>
              <a:rPr sz="1500" b="0">
                <a:solidFill>
                  <a:srgbClr val="666157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04E27-C3E4-442D-99FA-48143469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49ED7-663B-4A7B-BF83-083F9A5D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3AA47"/>
                </a:solidFill>
              </a:defRPr>
            </a:pPr>
            <a:r>
              <a:rPr sz="1575" b="1">
                <a:solidFill>
                  <a:srgbClr val="D3AA47"/>
                </a:solidFill>
              </a:rPr>
              <a:t>秘密结社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ADBC1-2A02-48B1-B5C6-BDB8A6BE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95500"/>
            <a:ext cx="3924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信任、保密、直接行动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19531-6B53-438C-BB82-6180CF5F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95500"/>
            <a:ext cx="422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99179"/>
                </a:solidFill>
              </a:defRPr>
            </a:pPr>
            <a:r>
              <a:rPr sz="1425" b="0">
                <a:solidFill>
                  <a:srgbClr val="E99179"/>
                </a:solidFill>
              </a:rPr>
              <a:t>地区隔绝、财政与问责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F762E-C083-4C39-B97A-9C56DAE7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7AA33-65C3-4045-98C0-87F17027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3AA47"/>
                </a:solidFill>
              </a:defRPr>
            </a:pPr>
            <a:r>
              <a:rPr sz="1575" b="1">
                <a:solidFill>
                  <a:srgbClr val="D3AA47"/>
                </a:solidFill>
              </a:rPr>
              <a:t>工会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023C6-9095-4E0E-BC78-02A313EF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38450"/>
            <a:ext cx="3924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保存经验、持续谈判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EE2B84-8F6E-41FD-96CA-0D8EA72C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38450"/>
            <a:ext cx="422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99179"/>
                </a:solidFill>
              </a:defRPr>
            </a:pPr>
            <a:r>
              <a:rPr sz="1425" b="0">
                <a:solidFill>
                  <a:srgbClr val="E99179"/>
                </a:solidFill>
              </a:rPr>
              <a:t>行业主义、排除、官僚化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F75675-C5D8-4BBF-81B3-814C8580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9AC62C-C8E4-4B55-993C-859B66EF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3AA47"/>
                </a:solidFill>
              </a:defRPr>
            </a:pPr>
            <a:r>
              <a:rPr sz="1575" b="1">
                <a:solidFill>
                  <a:srgbClr val="D3AA47"/>
                </a:solidFill>
              </a:rPr>
              <a:t>群众罢工／委员会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F054B-9A77-4FA2-BE0D-58171EFD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81400"/>
            <a:ext cx="3924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直接参与，重接经济与政治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CF5FDB-F5D1-471D-9C6C-AE7D6268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81400"/>
            <a:ext cx="422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99179"/>
                </a:solidFill>
              </a:defRPr>
            </a:pPr>
            <a:r>
              <a:rPr sz="1425" b="0">
                <a:solidFill>
                  <a:srgbClr val="E99179"/>
                </a:solidFill>
              </a:rPr>
              <a:t>依赖危机，难长期再生产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93A22-E8D6-48D9-BBDA-715E5B8B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5CECAA-F2D5-4D3A-95BE-65C8EBDB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3AA47"/>
                </a:solidFill>
              </a:defRPr>
            </a:pPr>
            <a:r>
              <a:rPr sz="1575" b="1">
                <a:solidFill>
                  <a:srgbClr val="D3AA47"/>
                </a:solidFill>
              </a:rPr>
              <a:t>群众政党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508FD7-6A12-471A-ACD6-56E2F929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324350"/>
            <a:ext cx="3924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全国聚合、教育与国家入口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F6B86B-9658-4CDD-AD15-CDE5E040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24350"/>
            <a:ext cx="422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99179"/>
                </a:solidFill>
              </a:defRPr>
            </a:pPr>
            <a:r>
              <a:rPr sz="1425" b="0">
                <a:solidFill>
                  <a:srgbClr val="E99179"/>
                </a:solidFill>
              </a:rPr>
              <a:t>选票逻辑、代表独立化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6D5F3F-BF66-4F8B-BBF2-0C88E24E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C051C2-43D9-48EA-937F-46C90D79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3AA47"/>
                </a:solidFill>
              </a:defRPr>
            </a:pPr>
            <a:r>
              <a:rPr sz="1575" b="1">
                <a:solidFill>
                  <a:srgbClr val="D3AA47"/>
                </a:solidFill>
              </a:rPr>
              <a:t>先锋队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3C7030-E5EE-47CC-B90E-671BCC98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67300"/>
            <a:ext cx="3924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镇压下连续性与战略集中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FD5893-8ED6-41B7-AE6C-E09CDA3B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67300"/>
            <a:ext cx="422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99179"/>
                </a:solidFill>
              </a:defRPr>
            </a:pPr>
            <a:r>
              <a:rPr sz="1425" b="0">
                <a:solidFill>
                  <a:srgbClr val="E99179"/>
                </a:solidFill>
              </a:rPr>
              <a:t>解释权垄断、党替代群众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2606AC-928B-4231-A8E0-A543E9DE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DFCF9B-C783-4C40-820A-A85BB2D6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66E"/>
                </a:solidFill>
              </a:defRPr>
            </a:pPr>
            <a:r>
              <a:rPr sz="825" b="0">
                <a:solidFill>
                  <a:srgbClr val="77766E"/>
                </a:solidFill>
              </a:rPr>
              <a:t>没有一种形式自动提供杠杆、持续、战略、代表、国家改造和民主。</a:t>
            </a:r>
          </a:p>
        </p:txBody>
      </p:sp>
    </p:spTree>
    <p:extLst>
      <p:ext uri="{BB962C8B-B14F-4D97-AF65-F5344CB8AC3E}">
        <p14:creationId xmlns:p14="http://schemas.microsoft.com/office/powerpoint/2010/main" val="212007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4C986-FA9B-491A-85DE-51BC9A2C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65335"/>
                </a:solidFill>
              </a:defRPr>
            </a:pPr>
            <a:r>
              <a:rPr sz="1200" b="1">
                <a:solidFill>
                  <a:srgbClr val="C65335"/>
                </a:solidFill>
              </a:rPr>
              <a:t>马克思—考茨基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A9489-E4BE-4D4B-A60C-D3CF76E9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2E8"/>
                </a:solidFill>
              </a:defRPr>
            </a:pPr>
            <a:r>
              <a:rPr sz="3600" b="1">
                <a:solidFill>
                  <a:srgbClr val="F7F2E8"/>
                </a:solidFill>
              </a:rPr>
              <a:t>局部斗争必须积累；中介却不会自动顺畅连接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3627F-5579-4EE9-B6C1-B89B1A55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6157"/>
                </a:solidFill>
              </a:defRPr>
            </a:pPr>
            <a:r>
              <a:rPr sz="1500" b="0">
                <a:solidFill>
                  <a:srgbClr val="666157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CE1B5-1021-4F1C-9820-3FC71456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4006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9EC20-C85E-48AD-9482-6A2D8B73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4006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EA042-D0F0-433C-B228-41F50C26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4981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自我解放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A56AD-04CB-43DD-B8E5-6A4BE11B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81375"/>
            <a:ext cx="498157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共同处境只有经过交往、斗争与组织，才形成政治主体。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组织不能代替工人自己行动。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16488-A36D-4337-8A17-EB801070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81250"/>
            <a:ext cx="54006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784E2-C2B2-4CD7-B6CE-C49EE6DA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81250"/>
            <a:ext cx="54006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3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664BB1-CFEC-4FFE-ADA2-C49E034A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47950"/>
            <a:ext cx="4981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规模与持续性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7F73E-6DF4-4005-9E0D-65629A50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81375"/>
            <a:ext cx="498157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会费、报刊、教育、纲领与群众政党，让地方力量进入国家尺度。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也可能重画“谁是工人”。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7B9617-FB6B-490E-BD11-09E95845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BBE362-94DF-462B-B6A5-03623CC8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66E"/>
                </a:solidFill>
              </a:defRPr>
            </a:pPr>
            <a:r>
              <a:rPr sz="825" b="0">
                <a:solidFill>
                  <a:srgbClr val="77766E"/>
                </a:solidFill>
              </a:rPr>
              <a:t>自我行动与政治代表，是必须同时处理的张力。</a:t>
            </a:r>
          </a:p>
        </p:txBody>
      </p:sp>
    </p:spTree>
    <p:extLst>
      <p:ext uri="{BB962C8B-B14F-4D97-AF65-F5344CB8AC3E}">
        <p14:creationId xmlns:p14="http://schemas.microsoft.com/office/powerpoint/2010/main" val="6855444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FEC961-B8C7-4046-9B1A-E675309F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65335"/>
                </a:solidFill>
              </a:defRPr>
            </a:pPr>
            <a:r>
              <a:rPr sz="1200" b="1">
                <a:solidFill>
                  <a:srgbClr val="C65335"/>
                </a:solidFill>
              </a:rPr>
              <a:t>卢森堡—列宁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E35AC-7E65-4359-BED0-ED3AC316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2E8"/>
                </a:solidFill>
              </a:defRPr>
            </a:pPr>
            <a:r>
              <a:rPr sz="3600" b="1">
                <a:solidFill>
                  <a:srgbClr val="F7F2E8"/>
                </a:solidFill>
              </a:rPr>
              <a:t>群众行动怎样获得战略，而不被战略替代？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63DA3-4B56-4AA8-A328-6FAB23BB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6157"/>
                </a:solidFill>
              </a:defRPr>
            </a:pPr>
            <a:r>
              <a:rPr sz="1500" b="0">
                <a:solidFill>
                  <a:srgbClr val="666157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74731-18C8-4E87-8278-36AB58E8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4006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F89F3-E921-4C6F-ABAB-05B8EA2A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4006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48BFB-F020-482A-A92B-F3B0FB05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4981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群众罢工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44B39-F51A-4773-9922-FDFE866C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81375"/>
            <a:ext cx="498157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经济与政治相互转化。组织既是行动前提，也是行动结果。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领导不能从外部制造群众运动。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D230F-8FC5-4AAF-AC6B-3C1B1EDB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81250"/>
            <a:ext cx="54006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2EE8D-B745-4D08-9067-70C54720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81250"/>
            <a:ext cx="54006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3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D752D6-3AD4-44ED-8A3D-EAD20E59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47950"/>
            <a:ext cx="4981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战略组织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40C77-64DA-4949-AEDD-26B1BB65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81375"/>
            <a:ext cx="498157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高压环境需要连续性、全国协调、保密与国家视野。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党可能垄断“正确解释”。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835DB6-AFAE-47A3-9E86-A56C2B93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FFE044-334B-48CB-8DEC-A340B480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66E"/>
                </a:solidFill>
              </a:defRPr>
            </a:pPr>
            <a:r>
              <a:rPr sz="825" b="0">
                <a:solidFill>
                  <a:srgbClr val="77766E"/>
                </a:solidFill>
              </a:rPr>
              <a:t>真正的问题不是“自发还是组织”，而是二者怎样相互生产。</a:t>
            </a:r>
          </a:p>
        </p:txBody>
      </p:sp>
    </p:spTree>
    <p:extLst>
      <p:ext uri="{BB962C8B-B14F-4D97-AF65-F5344CB8AC3E}">
        <p14:creationId xmlns:p14="http://schemas.microsoft.com/office/powerpoint/2010/main" val="13844418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64B292-2DE5-4CCC-ACF0-2A6E851C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65335"/>
                </a:solidFill>
              </a:defRPr>
            </a:pPr>
            <a:r>
              <a:rPr sz="1200" b="1">
                <a:solidFill>
                  <a:srgbClr val="C65335"/>
                </a:solidFill>
              </a:rPr>
              <a:t>彼得格勒与代表问题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61624-E099-4177-A33E-3CA15941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2E8"/>
                </a:solidFill>
              </a:defRPr>
            </a:pPr>
            <a:r>
              <a:rPr sz="3600" b="1">
                <a:solidFill>
                  <a:srgbClr val="F7F2E8"/>
                </a:solidFill>
              </a:rPr>
              <a:t>夺权、国有化和劳动者控制生产不是同一件事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2910F-CDDE-4682-AD80-73CEF673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6157"/>
                </a:solidFill>
              </a:defRPr>
            </a:pPr>
            <a:r>
              <a:rPr sz="1500" b="0">
                <a:solidFill>
                  <a:srgbClr val="666157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256F0-AD40-4E69-B93A-A980A7E1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5433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D26B6-054C-49B3-BB41-8C5F5156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543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AFC37-20FC-4153-8A49-405E290A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夺取国家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E73D1-0CA6-4144-8D1C-6E6E7AFF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81375"/>
            <a:ext cx="31242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谁掌握强制、法律与总体政治方向？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460B6-C670-4DA1-9BC1-05A8E984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35433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5F89C-E710-4ECA-887D-3799949D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3543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3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FDEDE-5AFE-4FCE-805B-A30537DE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47950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改变所有权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D02F2-7470-4D50-9C8F-6F4E6E15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81375"/>
            <a:ext cx="31242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国有化改变财产关系，却不自动规定劳动过程。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1433E-8DB3-45E1-B966-73639D7A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35433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9CD3A7-7C69-4BE8-8208-4DA95DF4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3543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C76309-FA90-4E95-8858-06F15539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劳动者控制生产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511883-1B90-4197-9F27-BD5B4A25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81375"/>
            <a:ext cx="31242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工厂委员会权力没有因国有化自动保存。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AC22FE-AF8D-42CB-A297-48AE4AA1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E4E598-E79E-4C1D-9FF6-8003B680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66E"/>
                </a:solidFill>
              </a:defRPr>
            </a:pPr>
            <a:r>
              <a:rPr sz="825" b="0">
                <a:solidFill>
                  <a:srgbClr val="77766E"/>
                </a:solidFill>
              </a:rPr>
              <a:t>代表使群体公共存在，也可能垄断群体定义。</a:t>
            </a:r>
          </a:p>
        </p:txBody>
      </p:sp>
    </p:spTree>
    <p:extLst>
      <p:ext uri="{BB962C8B-B14F-4D97-AF65-F5344CB8AC3E}">
        <p14:creationId xmlns:p14="http://schemas.microsoft.com/office/powerpoint/2010/main" val="5609092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81A5D-127A-4BB7-B0D0-7B001853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65335"/>
                </a:solidFill>
              </a:defRPr>
            </a:pPr>
            <a:r>
              <a:rPr sz="1350" b="1">
                <a:solidFill>
                  <a:srgbClr val="C65335"/>
                </a:solidFill>
              </a:rPr>
              <a:t>组织的悖论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91B26-8B55-4E60-A1AE-E97EED77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2E8"/>
                </a:solidFill>
              </a:defRPr>
            </a:pPr>
            <a:r>
              <a:rPr sz="3600" b="1">
                <a:solidFill>
                  <a:srgbClr val="F7F2E8"/>
                </a:solidFill>
              </a:rPr>
              <a:t>没有组织，地方抵抗容易被隔离。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24810-56D0-4514-B0A5-DC5D9C29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D3AA47"/>
                </a:solidFill>
              </a:defRPr>
            </a:pPr>
            <a:r>
              <a:rPr sz="3450" b="1">
                <a:solidFill>
                  <a:srgbClr val="D3AA47"/>
                </a:solidFill>
              </a:rPr>
              <a:t>没有群众问责，组织可能从</a:t>
            </a:r>
          </a:p>
          <a:p xmlns:a="http://schemas.openxmlformats.org/drawingml/2006/main">
            <a:pPr algn="l">
              <a:defRPr sz="3450" b="1">
                <a:solidFill>
                  <a:srgbClr val="D3AA47"/>
                </a:solidFill>
              </a:defRPr>
            </a:pPr>
            <a:r>
              <a:rPr sz="3450" b="1">
                <a:solidFill>
                  <a:srgbClr val="D3AA47"/>
                </a:solidFill>
              </a:rPr>
              <a:t>形成阶级滑向替代阶级。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6C939-F55B-4E00-8249-11AE613A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E2258-D22B-438E-B42F-396C9D5D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66E"/>
                </a:solidFill>
              </a:defRPr>
            </a:pPr>
            <a:r>
              <a:rPr sz="825" b="0">
                <a:solidFill>
                  <a:srgbClr val="77766E"/>
                </a:solidFill>
              </a:rPr>
              <a:t>组织是必要的，但不是无辜的。</a:t>
            </a:r>
          </a:p>
        </p:txBody>
      </p:sp>
    </p:spTree>
    <p:extLst>
      <p:ext uri="{BB962C8B-B14F-4D97-AF65-F5344CB8AC3E}">
        <p14:creationId xmlns:p14="http://schemas.microsoft.com/office/powerpoint/2010/main" val="10001191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234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ABD29-9C20-41E0-AC7E-DF3C5EEB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29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9670C-D927-4F7C-B737-B1CCA6CA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79D6FF"/>
                </a:solidFill>
              </a:defRPr>
            </a:pPr>
            <a:r>
              <a:rPr sz="6150" b="1">
                <a:solidFill>
                  <a:srgbClr val="79D6FF"/>
                </a:solidFill>
              </a:rPr>
              <a:t>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147C7-73E3-4A38-8C67-4D2A6ED8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0"/>
            <a:ext cx="776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F0072-AC6F-4D27-972A-E2AB9CE1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09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9D6FF"/>
                </a:solidFill>
              </a:defRPr>
            </a:pPr>
            <a:r>
              <a:rPr sz="1350" b="1">
                <a:solidFill>
                  <a:srgbClr val="79D6FF"/>
                </a:solidFill>
              </a:rPr>
              <a:t>回到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A3DEA8-1704-4EAC-872A-C8EFC18F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285875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7F2E8"/>
                </a:solidFill>
              </a:defRPr>
            </a:pPr>
            <a:r>
              <a:rPr sz="3750" b="1">
                <a:solidFill>
                  <a:srgbClr val="F7F2E8"/>
                </a:solidFill>
              </a:rPr>
              <a:t>问题不是要不要砸，</a:t>
            </a:r>
          </a:p>
          <a:p xmlns:a="http://schemas.openxmlformats.org/drawingml/2006/main">
            <a:pPr algn="l">
              <a:defRPr sz="3750" b="1">
                <a:solidFill>
                  <a:srgbClr val="F7F2E8"/>
                </a:solidFill>
              </a:defRPr>
            </a:pPr>
            <a:r>
              <a:rPr sz="3750" b="1">
                <a:solidFill>
                  <a:srgbClr val="F7F2E8"/>
                </a:solidFill>
              </a:rPr>
              <a:t>而是谁能组织技术方向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A6858-EBDB-46D2-900B-A84A8545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24250"/>
            <a:ext cx="571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8D5DF"/>
                </a:solidFill>
              </a:defRPr>
            </a:pPr>
            <a:r>
              <a:rPr sz="1875" b="0">
                <a:solidFill>
                  <a:srgbClr val="B8D5DF"/>
                </a:solidFill>
              </a:rPr>
              <a:t>这是一条由算力、数据、资本、平台、劳动分工</a:t>
            </a:r>
          </a:p>
          <a:p xmlns:a="http://schemas.openxmlformats.org/drawingml/2006/main">
            <a:pPr algn="l">
              <a:defRPr sz="1875" b="0">
                <a:solidFill>
                  <a:srgbClr val="B8D5DF"/>
                </a:solidFill>
              </a:defRPr>
            </a:pPr>
            <a:r>
              <a:rPr sz="1875" b="0">
                <a:solidFill>
                  <a:srgbClr val="B8D5DF"/>
                </a:solidFill>
              </a:rPr>
              <a:t>和国家政策构成的制度链。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A3D22-5570-463D-974A-24B17761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D5759-DB05-4888-8856-7A80223B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66E"/>
                </a:solidFill>
              </a:defRPr>
            </a:pPr>
            <a:r>
              <a:rPr sz="825" b="0">
                <a:solidFill>
                  <a:srgbClr val="77766E"/>
                </a:solidFill>
              </a:rPr>
              <a:t>个人态度不能替代工作场所、行业、社会联盟与国家尺度的政治。</a:t>
            </a:r>
          </a:p>
        </p:txBody>
      </p:sp>
    </p:spTree>
    <p:extLst>
      <p:ext uri="{BB962C8B-B14F-4D97-AF65-F5344CB8AC3E}">
        <p14:creationId xmlns:p14="http://schemas.microsoft.com/office/powerpoint/2010/main" val="107025364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F6AAF7-4777-4736-8030-4D593920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65335"/>
                </a:solidFill>
              </a:defRPr>
            </a:pPr>
            <a:r>
              <a:rPr sz="1200" b="1">
                <a:solidFill>
                  <a:srgbClr val="C65335"/>
                </a:solidFill>
              </a:rPr>
              <a:t>AI 的四个尺度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C5A01-98B9-4337-8988-D349244B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2E8"/>
                </a:solidFill>
              </a:defRPr>
            </a:pPr>
            <a:r>
              <a:rPr sz="3600" b="1">
                <a:solidFill>
                  <a:srgbClr val="F7F2E8"/>
                </a:solidFill>
              </a:rPr>
              <a:t>不同组织形式不是同一尺度上的替代选项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390B6-B105-4B41-96CD-FB99CB70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6157"/>
                </a:solidFill>
              </a:defRPr>
            </a:pPr>
            <a:r>
              <a:rPr sz="1500" b="0">
                <a:solidFill>
                  <a:srgbClr val="666157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35A7B-92C0-4449-9675-327044F3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1F5C4-1C4C-4ADE-9BEF-58742DB3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3AA47"/>
                </a:solidFill>
              </a:defRPr>
            </a:pPr>
            <a:r>
              <a:rPr sz="1575" b="1">
                <a:solidFill>
                  <a:srgbClr val="D3AA47"/>
                </a:solidFill>
              </a:rPr>
              <a:t>工作场所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184AD-2015-4A10-9D3C-8C3A9442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38375"/>
            <a:ext cx="3924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部署、考核、裁员与强度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0C31C-5760-4AA5-9B2F-8DE70D6D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38375"/>
            <a:ext cx="422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99179"/>
                </a:solidFill>
              </a:defRPr>
            </a:pPr>
            <a:r>
              <a:rPr sz="1425" b="0">
                <a:solidFill>
                  <a:srgbClr val="E99179"/>
                </a:solidFill>
              </a:rPr>
              <a:t>工会、职工委员会与否决权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75FB7-9E55-42A0-8EBA-B844C8C9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8D1F9-1639-49B3-9CE1-C6AE19D8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3AA47"/>
                </a:solidFill>
              </a:defRPr>
            </a:pPr>
            <a:r>
              <a:rPr sz="1575" b="1">
                <a:solidFill>
                  <a:srgbClr val="D3AA47"/>
                </a:solidFill>
              </a:rPr>
              <a:t>行业／职业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F0664-6CB4-4960-B2D3-A78E794E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81325"/>
            <a:ext cx="3924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标准、署名、责任与作品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6103F7-47B2-45A0-99EA-E5D61853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81325"/>
            <a:ext cx="422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99179"/>
                </a:solidFill>
              </a:defRPr>
            </a:pPr>
            <a:r>
              <a:rPr sz="1425" b="0">
                <a:solidFill>
                  <a:srgbClr val="E99179"/>
                </a:solidFill>
              </a:rPr>
              <a:t>行业工会、专业协会与跨企业协议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36D85-104B-4051-991E-1C621226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F0C89-769D-489A-B370-58CFC4C8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3AA47"/>
                </a:solidFill>
              </a:defRPr>
            </a:pPr>
            <a:r>
              <a:rPr sz="1575" b="1">
                <a:solidFill>
                  <a:srgbClr val="D3AA47"/>
                </a:solidFill>
              </a:rPr>
              <a:t>社会联盟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357105-44C0-4080-8034-FB254743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24275"/>
            <a:ext cx="3924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教育、公共服务与信息秩序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485214-BFC6-45A3-95A8-078E7C67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24275"/>
            <a:ext cx="422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99179"/>
                </a:solidFill>
              </a:defRPr>
            </a:pPr>
            <a:r>
              <a:rPr sz="1425" b="0">
                <a:solidFill>
                  <a:srgbClr val="E99179"/>
                </a:solidFill>
              </a:rPr>
              <a:t>社会运动、用户组织与跨群体联盟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80AF9-BEE9-43F9-890B-2F8CFB87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7AA98F-E990-424B-8828-4245ACB2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3AA47"/>
                </a:solidFill>
              </a:defRPr>
            </a:pPr>
            <a:r>
              <a:rPr sz="1575" b="1">
                <a:solidFill>
                  <a:srgbClr val="D3AA47"/>
                </a:solidFill>
              </a:rPr>
              <a:t>国家／跨国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C954DF-A0B7-45F9-AB08-D5B64005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67225"/>
            <a:ext cx="3924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劳动法、知识产权、采购与福利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6F496A-4262-4C40-BEFD-E2DA35D8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67225"/>
            <a:ext cx="422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99179"/>
                </a:solidFill>
              </a:defRPr>
            </a:pPr>
            <a:r>
              <a:rPr sz="1425" b="0">
                <a:solidFill>
                  <a:srgbClr val="E99179"/>
                </a:solidFill>
              </a:rPr>
              <a:t>政党纲领、立法、监管与国际协调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CE8082-F283-4A95-BB2F-5535721D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05ADF6-938B-4AE8-BEF5-90F4952A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66E"/>
                </a:solidFill>
              </a:defRPr>
            </a:pPr>
            <a:r>
              <a:rPr sz="825" b="0">
                <a:solidFill>
                  <a:srgbClr val="77766E"/>
                </a:solidFill>
              </a:rPr>
              <a:t>工作场所抵抗不足以单独决定技术长期方向。</a:t>
            </a:r>
          </a:p>
        </p:txBody>
      </p:sp>
    </p:spTree>
    <p:extLst>
      <p:ext uri="{BB962C8B-B14F-4D97-AF65-F5344CB8AC3E}">
        <p14:creationId xmlns:p14="http://schemas.microsoft.com/office/powerpoint/2010/main" val="17222343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40EF96-DA21-484F-A97A-F1D362D7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65335"/>
                </a:solidFill>
              </a:defRPr>
            </a:pPr>
            <a:r>
              <a:rPr sz="1200" b="1">
                <a:solidFill>
                  <a:srgbClr val="C65335"/>
                </a:solidFill>
              </a:rPr>
              <a:t>比“支持／反对 AI”更具体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DB185-54B5-4636-B396-AFFCC085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2E8"/>
                </a:solidFill>
              </a:defRPr>
            </a:pPr>
            <a:r>
              <a:rPr sz="3600" b="1">
                <a:solidFill>
                  <a:srgbClr val="F7F2E8"/>
                </a:solidFill>
              </a:rPr>
              <a:t>技术政治必须回答四个权力问题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62BD2-454A-480B-A569-1202D7EA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6157"/>
                </a:solidFill>
              </a:defRPr>
            </a:pPr>
            <a:r>
              <a:rPr sz="1500" b="0">
                <a:solidFill>
                  <a:srgbClr val="666157"/>
                </a:solidFill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4A0B4-95AD-45DF-B958-FC1AE059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2614613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12C1A-87C4-44F7-8259-CB9671E5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261461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1F96A-E3A4-4B8A-86CF-C06C9C26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0325"/>
            <a:ext cx="2195513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谁拥有否决权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52088-081B-421B-9CA5-D6EC5208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195513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部署前能否取得信息、协商并拒绝危险用途？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CA661-65F2-462B-8AE7-784446D2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333625"/>
            <a:ext cx="2614613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08286-A50A-4569-BC06-CBE265B3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333625"/>
            <a:ext cx="261461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3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F3081-F693-4FC1-9A1E-F4617677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2600325"/>
            <a:ext cx="2195513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谁承担成本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8DCA4-6CB1-41B5-8C6C-A52DC357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333750"/>
            <a:ext cx="2195513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生产率收益成为缩短工时，还是裁员与劳动强化？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1A18AA-3F6A-41A6-8909-DA7B5313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33625"/>
            <a:ext cx="2614613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3BCB5-F745-403B-833C-F7C30AE5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33625"/>
            <a:ext cx="261461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96C59E-3A7E-4FD7-BE27-2B81978C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00325"/>
            <a:ext cx="2195513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谁能跨职业协调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402BB9-15A2-4206-BDB4-5EB6E0C8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33750"/>
            <a:ext cx="2195513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高技能拒绝怎样连接外包、平台劳动者与公共用户？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6BA070-70B5-44F8-8FBC-4CD7821F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2333625"/>
            <a:ext cx="2614613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A17"/>
          </a:solidFill>
          <a:ln xmlns:a="http://schemas.openxmlformats.org/drawingml/2006/main" w="9525">
            <a:solidFill>
              <a:srgbClr val="4A46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13EB63-8F5B-4D5B-891C-76311D53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2333625"/>
            <a:ext cx="261461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4A2E70-7699-4792-8364-E15650E2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2600325"/>
            <a:ext cx="2195513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2E8"/>
                </a:solidFill>
              </a:defRPr>
            </a:pPr>
            <a:r>
              <a:rPr sz="2025" b="1">
                <a:solidFill>
                  <a:srgbClr val="F7F2E8"/>
                </a:solidFill>
              </a:rPr>
              <a:t>谁决定长期方向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2FB2D-A793-489D-84BB-B9004FEC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3333750"/>
            <a:ext cx="2195513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F9F"/>
                </a:solidFill>
              </a:defRPr>
            </a:pPr>
            <a:r>
              <a:rPr sz="1500" b="0">
                <a:solidFill>
                  <a:srgbClr val="CDBF9F"/>
                </a:solidFill>
              </a:rPr>
              <a:t>技术是否进入所有权、劳动法、采购、税收与产业政策？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DBE5CF-341E-4D28-9B2B-0D1053A5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9F0B93-3DF9-48A3-B2B2-6922A8D5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66E"/>
                </a:solidFill>
              </a:defRPr>
            </a:pPr>
            <a:r>
              <a:rPr sz="825" b="0">
                <a:solidFill>
                  <a:srgbClr val="77766E"/>
                </a:solidFill>
              </a:rPr>
              <a:t>AI 时代的阶级形成，是把分散劳动位置组合成共同纲领。</a:t>
            </a:r>
          </a:p>
        </p:txBody>
      </p:sp>
    </p:spTree>
    <p:extLst>
      <p:ext uri="{BB962C8B-B14F-4D97-AF65-F5344CB8AC3E}">
        <p14:creationId xmlns:p14="http://schemas.microsoft.com/office/powerpoint/2010/main" val="5246813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522083-8923-4794-8F27-283DFC74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65335"/>
                </a:solidFill>
              </a:defRPr>
            </a:pPr>
            <a:r>
              <a:rPr sz="1200" b="1">
                <a:solidFill>
                  <a:srgbClr val="C65335"/>
                </a:solidFill>
              </a:rPr>
              <a:t>四个明确结论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2AE18-3B51-4953-9609-96B5199D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2E8"/>
                </a:solidFill>
              </a:defRPr>
            </a:pPr>
            <a:r>
              <a:rPr sz="3600" b="1">
                <a:solidFill>
                  <a:srgbClr val="F7F2E8"/>
                </a:solidFill>
              </a:rPr>
              <a:t>文化说明为什么反抗；组织、联盟与国家战略决定可能怎样取胜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9E6F5-0647-466E-84B7-74ADA4B8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6157"/>
                </a:solidFill>
              </a:defRPr>
            </a:pPr>
            <a:r>
              <a:rPr sz="1500" b="0">
                <a:solidFill>
                  <a:srgbClr val="666157"/>
                </a:solidFill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BA6B1-CD71-4D74-9020-DE6B957F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69654-1C4C-4FBA-A1CC-1F3A80FD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DBF9F"/>
                </a:solidFill>
              </a:defRPr>
            </a:pPr>
            <a:r>
              <a:rPr sz="1800" b="0">
                <a:solidFill>
                  <a:srgbClr val="CDBF9F"/>
                </a:solidFill>
              </a:rPr>
              <a:t>没有持久组织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09A46-3631-4938-B0C6-89CB1242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65335"/>
                </a:solidFill>
              </a:defRPr>
            </a:pPr>
            <a:r>
              <a:rPr sz="2250" b="1">
                <a:solidFill>
                  <a:srgbClr val="C65335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5B297-FA3D-429E-9E73-1FDCD61C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383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2E8"/>
                </a:solidFill>
              </a:defRPr>
            </a:pPr>
            <a:r>
              <a:rPr sz="1950" b="1">
                <a:solidFill>
                  <a:srgbClr val="F7F2E8"/>
                </a:solidFill>
              </a:rPr>
              <a:t>地方反抗容易被隔离、镇压、收编或遗忘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D4E942-4D3E-4142-B3B0-605955F2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4502D1-CC44-4E30-BE62-26248706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DBF9F"/>
                </a:solidFill>
              </a:defRPr>
            </a:pPr>
            <a:r>
              <a:rPr sz="1800" b="0">
                <a:solidFill>
                  <a:srgbClr val="CDBF9F"/>
                </a:solidFill>
              </a:rPr>
              <a:t>没有群众问责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5D8E86-9804-404E-A17B-2B104971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7657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65335"/>
                </a:solidFill>
              </a:defRPr>
            </a:pPr>
            <a:r>
              <a:rPr sz="2250" b="1">
                <a:solidFill>
                  <a:srgbClr val="C65335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BC3E0-CED5-4154-AF6F-68F6475B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765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2E8"/>
                </a:solidFill>
              </a:defRPr>
            </a:pPr>
            <a:r>
              <a:rPr sz="1950" b="1">
                <a:solidFill>
                  <a:srgbClr val="F7F2E8"/>
                </a:solidFill>
              </a:rPr>
              <a:t>组织可能从形成阶级滑向替代阶级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9A5B6-D6CD-4B12-BBFF-61EF17ED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76BE7-A0A2-45E1-B046-5329054B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DBF9F"/>
                </a:solidFill>
              </a:defRPr>
            </a:pPr>
            <a:r>
              <a:rPr sz="1800" b="0">
                <a:solidFill>
                  <a:srgbClr val="CDBF9F"/>
                </a:solidFill>
              </a:rPr>
              <a:t>没有国家战略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5A30F-ADDC-4E8C-B37C-4F684F1C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1477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65335"/>
                </a:solidFill>
              </a:defRPr>
            </a:pPr>
            <a:r>
              <a:rPr sz="2250" b="1">
                <a:solidFill>
                  <a:srgbClr val="C65335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E8F732-4F15-46A6-85DC-E30802BB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147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2E8"/>
                </a:solidFill>
              </a:defRPr>
            </a:pPr>
            <a:r>
              <a:rPr sz="1950" b="1">
                <a:solidFill>
                  <a:srgbClr val="F7F2E8"/>
                </a:solidFill>
              </a:rPr>
              <a:t>工作场所抵抗不足以决定技术长期方向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173C40-638A-4AFE-BD9D-F886D9C6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A3F445-1241-4758-B7D7-4A7060B9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DBF9F"/>
                </a:solidFill>
              </a:defRPr>
            </a:pPr>
            <a:r>
              <a:rPr sz="1800" b="0">
                <a:solidFill>
                  <a:srgbClr val="CDBF9F"/>
                </a:solidFill>
              </a:rPr>
              <a:t>没有具体劳动知识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B63563-6AEC-4E6D-928E-827CBEC6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5297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65335"/>
                </a:solidFill>
              </a:defRPr>
            </a:pPr>
            <a:r>
              <a:rPr sz="2250" b="1">
                <a:solidFill>
                  <a:srgbClr val="C65335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4E4A7F-9157-4CA7-A178-2E1EDC12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529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2E8"/>
                </a:solidFill>
              </a:defRPr>
            </a:pPr>
            <a:r>
              <a:rPr sz="1950" b="1">
                <a:solidFill>
                  <a:srgbClr val="F7F2E8"/>
                </a:solidFill>
              </a:rPr>
              <a:t>理论会制造抽象主体并覆盖真实劳动者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41022F-20AC-4788-8FB6-5C64BBF1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56ADBA-6B28-4D65-B9BD-D71F66AF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66E"/>
                </a:solidFill>
              </a:defRPr>
            </a:pPr>
            <a:r>
              <a:rPr sz="825" b="0">
                <a:solidFill>
                  <a:srgbClr val="77766E"/>
                </a:solidFill>
              </a:rPr>
              <a:t>群众自治与问责，决定胜利是否仍属于劳动者自己。</a:t>
            </a:r>
          </a:p>
        </p:txBody>
      </p:sp>
    </p:spTree>
    <p:extLst>
      <p:ext uri="{BB962C8B-B14F-4D97-AF65-F5344CB8AC3E}">
        <p14:creationId xmlns:p14="http://schemas.microsoft.com/office/powerpoint/2010/main" val="124473021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8896B-167A-4786-92A3-2B4E666E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65335"/>
                </a:solidFill>
              </a:defRPr>
            </a:pPr>
            <a:r>
              <a:rPr sz="1350" b="1">
                <a:solidFill>
                  <a:srgbClr val="C65335"/>
                </a:solidFill>
              </a:rPr>
              <a:t>砸机器之后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09AA7-E5ED-4B35-97AA-C3D9D2D9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2E8"/>
                </a:solidFill>
              </a:defRPr>
            </a:pPr>
            <a:r>
              <a:rPr sz="3450" b="1">
                <a:solidFill>
                  <a:srgbClr val="F7F2E8"/>
                </a:solidFill>
              </a:rPr>
              <a:t>能否建立一种政治：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AF915-4E14-4738-B303-4BAED5DC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C65335"/>
                </a:solidFill>
              </a:defRPr>
            </a:pPr>
            <a:r>
              <a:rPr sz="3375" b="1">
                <a:solidFill>
                  <a:srgbClr val="C65335"/>
                </a:solidFill>
              </a:rPr>
              <a:t>既有能力中断不公正的技术秩序，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49EE7-6CA7-44E1-98BF-15ACFD69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79D6FF"/>
                </a:solidFill>
              </a:defRPr>
            </a:pPr>
            <a:r>
              <a:rPr sz="3375" b="1">
                <a:solidFill>
                  <a:srgbClr val="79D6FF"/>
                </a:solidFill>
              </a:rPr>
              <a:t>也有能力共同治理替代它的制度？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08F6B-D5A2-4E65-8F7F-1403EDCC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C59CC-D23C-4FE2-A051-5120D3EE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66E"/>
                </a:solidFill>
              </a:defRPr>
            </a:pPr>
            <a:r>
              <a:rPr sz="825" b="0">
                <a:solidFill>
                  <a:srgbClr val="77766E"/>
                </a:solidFill>
              </a:rPr>
              <a:t>卢德运动的力量、失败与劳动政治</a:t>
            </a:r>
          </a:p>
        </p:txBody>
      </p:sp>
    </p:spTree>
    <p:extLst>
      <p:ext uri="{BB962C8B-B14F-4D97-AF65-F5344CB8AC3E}">
        <p14:creationId xmlns:p14="http://schemas.microsoft.com/office/powerpoint/2010/main" val="611479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2026-07-18T04:15:10.9890000Z</dcterms:created>
  <dcterms:modified xsi:type="dcterms:W3CDTF">2026-07-18T04:15:10.9890000Z</dcterms:modified>
</coreProperties>
</file>