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7dc62b944a4fa4" /><Relationship Type="http://schemas.openxmlformats.org/officeDocument/2006/relationships/extended-properties" Target="/docProps/app.xml" Id="R838df1f089f44469" /><Relationship Type="http://schemas.openxmlformats.org/officeDocument/2006/relationships/officeDocument" Target="/ppt/presentation.xml" Id="R86fc4abc01e240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8284b975894742"/>
  </p:sldMasterIdLst>
  <p:notesMasterIdLst>
    <p:notesMasterId xmlns:r="http://schemas.openxmlformats.org/officeDocument/2006/relationships" r:id="Rfd6dff9a910f497d"/>
  </p:notesMasterIdLst>
  <p:sldIdLst>
    <p:sldId xmlns:r="http://schemas.openxmlformats.org/officeDocument/2006/relationships" id="256" r:id="R5eaf5158642f4b57"/>
    <p:sldId xmlns:r="http://schemas.openxmlformats.org/officeDocument/2006/relationships" id="257" r:id="R1cbb11d819b14c1c"/>
    <p:sldId xmlns:r="http://schemas.openxmlformats.org/officeDocument/2006/relationships" id="258" r:id="R2571ad9c2fca49cd"/>
    <p:sldId xmlns:r="http://schemas.openxmlformats.org/officeDocument/2006/relationships" id="259" r:id="Re6231f63d692451f"/>
    <p:sldId xmlns:r="http://schemas.openxmlformats.org/officeDocument/2006/relationships" id="260" r:id="Ra1cd4d1cee1249fa"/>
    <p:sldId xmlns:r="http://schemas.openxmlformats.org/officeDocument/2006/relationships" id="261" r:id="R0fdbb4907c204814"/>
    <p:sldId xmlns:r="http://schemas.openxmlformats.org/officeDocument/2006/relationships" id="262" r:id="R7f2863a6553e49f8"/>
    <p:sldId xmlns:r="http://schemas.openxmlformats.org/officeDocument/2006/relationships" id="263" r:id="Rbd94abd2ad224a9b"/>
    <p:sldId xmlns:r="http://schemas.openxmlformats.org/officeDocument/2006/relationships" id="264" r:id="R3005bb7fb0664308"/>
    <p:sldId xmlns:r="http://schemas.openxmlformats.org/officeDocument/2006/relationships" id="265" r:id="R5f6cf6bd8a7f46ea"/>
    <p:sldId xmlns:r="http://schemas.openxmlformats.org/officeDocument/2006/relationships" id="266" r:id="R983d66036a164958"/>
    <p:sldId xmlns:r="http://schemas.openxmlformats.org/officeDocument/2006/relationships" id="267" r:id="R8340ee5f83c045ef"/>
    <p:sldId xmlns:r="http://schemas.openxmlformats.org/officeDocument/2006/relationships" id="268" r:id="Rb87e545217994a50"/>
    <p:sldId xmlns:r="http://schemas.openxmlformats.org/officeDocument/2006/relationships" id="269" r:id="R250a6ea8b0aa495c"/>
    <p:sldId xmlns:r="http://schemas.openxmlformats.org/officeDocument/2006/relationships" id="270" r:id="Rfaba146961b34320"/>
    <p:sldId xmlns:r="http://schemas.openxmlformats.org/officeDocument/2006/relationships" id="271" r:id="Rbe6cb2258e5d4935"/>
    <p:sldId xmlns:r="http://schemas.openxmlformats.org/officeDocument/2006/relationships" id="272" r:id="R2ab683e4f8ba4ea1"/>
    <p:sldId xmlns:r="http://schemas.openxmlformats.org/officeDocument/2006/relationships" id="273" r:id="R18209023afe64dfe"/>
    <p:sldId xmlns:r="http://schemas.openxmlformats.org/officeDocument/2006/relationships" id="274" r:id="R61a4a33c268c4820"/>
    <p:sldId xmlns:r="http://schemas.openxmlformats.org/officeDocument/2006/relationships" id="275" r:id="Recbc9193921849bb"/>
    <p:sldId xmlns:r="http://schemas.openxmlformats.org/officeDocument/2006/relationships" id="276" r:id="R1a6cb5cf58214173"/>
    <p:sldId xmlns:r="http://schemas.openxmlformats.org/officeDocument/2006/relationships" id="277" r:id="R122fd39341d34c11"/>
    <p:sldId xmlns:r="http://schemas.openxmlformats.org/officeDocument/2006/relationships" id="278" r:id="Rd02b33ee0a4a4172"/>
    <p:sldId xmlns:r="http://schemas.openxmlformats.org/officeDocument/2006/relationships" id="279" r:id="R0c476031cae14318"/>
    <p:sldId xmlns:r="http://schemas.openxmlformats.org/officeDocument/2006/relationships" id="280" r:id="R2de314eac9e94c23"/>
    <p:sldId xmlns:r="http://schemas.openxmlformats.org/officeDocument/2006/relationships" id="281" r:id="R9e8d19d5b37d48bb"/>
    <p:sldId xmlns:r="http://schemas.openxmlformats.org/officeDocument/2006/relationships" id="282" r:id="R1170fb829304426e"/>
    <p:sldId xmlns:r="http://schemas.openxmlformats.org/officeDocument/2006/relationships" id="283" r:id="R77976630499c4b25"/>
    <p:sldId xmlns:r="http://schemas.openxmlformats.org/officeDocument/2006/relationships" id="284" r:id="R226e486a1b1f4eb0"/>
    <p:sldId xmlns:r="http://schemas.openxmlformats.org/officeDocument/2006/relationships" id="285" r:id="R5a519fe9089947d5"/>
    <p:sldId xmlns:r="http://schemas.openxmlformats.org/officeDocument/2006/relationships" id="286" r:id="R5ebf7c81289e4965"/>
    <p:sldId xmlns:r="http://schemas.openxmlformats.org/officeDocument/2006/relationships" id="287" r:id="Re2c31480021c48f4"/>
    <p:sldId xmlns:r="http://schemas.openxmlformats.org/officeDocument/2006/relationships" id="288" r:id="R9d2a6aabb615421e"/>
    <p:sldId xmlns:r="http://schemas.openxmlformats.org/officeDocument/2006/relationships" id="289" r:id="R1f13bd2a724b4c39"/>
    <p:sldId xmlns:r="http://schemas.openxmlformats.org/officeDocument/2006/relationships" id="290" r:id="R27b5de7048b6455c"/>
    <p:sldId xmlns:r="http://schemas.openxmlformats.org/officeDocument/2006/relationships" id="291" r:id="R0aaeacb678d2479b"/>
    <p:sldId xmlns:r="http://schemas.openxmlformats.org/officeDocument/2006/relationships" id="292" r:id="Rd0d740053fd24cd4"/>
    <p:sldId xmlns:r="http://schemas.openxmlformats.org/officeDocument/2006/relationships" id="293" r:id="Rcf62775cb6164c4e"/>
    <p:sldId xmlns:r="http://schemas.openxmlformats.org/officeDocument/2006/relationships" id="294" r:id="R903ef1f10f844378"/>
    <p:sldId xmlns:r="http://schemas.openxmlformats.org/officeDocument/2006/relationships" id="295" r:id="R1b33d1947b9e4f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6618dc24f14e13" /><Relationship Type="http://schemas.openxmlformats.org/officeDocument/2006/relationships/slideMaster" Target="/ppt/slideMasters/slideMaster1.xml" Id="R138284b975894742" /><Relationship Type="http://schemas.openxmlformats.org/officeDocument/2006/relationships/notesMaster" Target="/ppt/notesMasters/notesMaster1.xml" Id="Rfd6dff9a910f497d" /><Relationship Type="http://schemas.openxmlformats.org/officeDocument/2006/relationships/presProps" Target="/ppt/presProps.xml" Id="Ra4bc322183d247e9" /><Relationship Type="http://schemas.openxmlformats.org/officeDocument/2006/relationships/tableStyles" Target="/ppt/tableStyles.xml" Id="Re95446626eb344ed" /><Relationship Type="http://schemas.openxmlformats.org/officeDocument/2006/relationships/slide" Target="/ppt/slides/slide1.xml" Id="R5eaf5158642f4b57" /><Relationship Type="http://schemas.openxmlformats.org/officeDocument/2006/relationships/slide" Target="/ppt/slides/slide2.xml" Id="R1cbb11d819b14c1c" /><Relationship Type="http://schemas.openxmlformats.org/officeDocument/2006/relationships/slide" Target="/ppt/slides/slide3.xml" Id="R2571ad9c2fca49cd" /><Relationship Type="http://schemas.openxmlformats.org/officeDocument/2006/relationships/slide" Target="/ppt/slides/slide4.xml" Id="Re6231f63d692451f" /><Relationship Type="http://schemas.openxmlformats.org/officeDocument/2006/relationships/slide" Target="/ppt/slides/slide5.xml" Id="Ra1cd4d1cee1249fa" /><Relationship Type="http://schemas.openxmlformats.org/officeDocument/2006/relationships/slide" Target="/ppt/slides/slide6.xml" Id="R0fdbb4907c204814" /><Relationship Type="http://schemas.openxmlformats.org/officeDocument/2006/relationships/slide" Target="/ppt/slides/slide7.xml" Id="R7f2863a6553e49f8" /><Relationship Type="http://schemas.openxmlformats.org/officeDocument/2006/relationships/slide" Target="/ppt/slides/slide8.xml" Id="Rbd94abd2ad224a9b" /><Relationship Type="http://schemas.openxmlformats.org/officeDocument/2006/relationships/slide" Target="/ppt/slides/slide9.xml" Id="R3005bb7fb0664308" /><Relationship Type="http://schemas.openxmlformats.org/officeDocument/2006/relationships/slide" Target="/ppt/slides/slide10.xml" Id="R5f6cf6bd8a7f46ea" /><Relationship Type="http://schemas.openxmlformats.org/officeDocument/2006/relationships/slide" Target="/ppt/slides/slide11.xml" Id="R983d66036a164958" /><Relationship Type="http://schemas.openxmlformats.org/officeDocument/2006/relationships/slide" Target="/ppt/slides/slide12.xml" Id="R8340ee5f83c045ef" /><Relationship Type="http://schemas.openxmlformats.org/officeDocument/2006/relationships/slide" Target="/ppt/slides/slide13.xml" Id="Rb87e545217994a50" /><Relationship Type="http://schemas.openxmlformats.org/officeDocument/2006/relationships/slide" Target="/ppt/slides/slide14.xml" Id="R250a6ea8b0aa495c" /><Relationship Type="http://schemas.openxmlformats.org/officeDocument/2006/relationships/slide" Target="/ppt/slides/slide15.xml" Id="Rfaba146961b34320" /><Relationship Type="http://schemas.openxmlformats.org/officeDocument/2006/relationships/slide" Target="/ppt/slides/slide16.xml" Id="Rbe6cb2258e5d4935" /><Relationship Type="http://schemas.openxmlformats.org/officeDocument/2006/relationships/slide" Target="/ppt/slides/slide17.xml" Id="R2ab683e4f8ba4ea1" /><Relationship Type="http://schemas.openxmlformats.org/officeDocument/2006/relationships/slide" Target="/ppt/slides/slide18.xml" Id="R18209023afe64dfe" /><Relationship Type="http://schemas.openxmlformats.org/officeDocument/2006/relationships/slide" Target="/ppt/slides/slide19.xml" Id="R61a4a33c268c4820" /><Relationship Type="http://schemas.openxmlformats.org/officeDocument/2006/relationships/slide" Target="/ppt/slides/slide20.xml" Id="Recbc9193921849bb" /><Relationship Type="http://schemas.openxmlformats.org/officeDocument/2006/relationships/slide" Target="/ppt/slides/slide21.xml" Id="R1a6cb5cf58214173" /><Relationship Type="http://schemas.openxmlformats.org/officeDocument/2006/relationships/slide" Target="/ppt/slides/slide22.xml" Id="R122fd39341d34c11" /><Relationship Type="http://schemas.openxmlformats.org/officeDocument/2006/relationships/slide" Target="/ppt/slides/slide23.xml" Id="Rd02b33ee0a4a4172" /><Relationship Type="http://schemas.openxmlformats.org/officeDocument/2006/relationships/slide" Target="/ppt/slides/slide24.xml" Id="R0c476031cae14318" /><Relationship Type="http://schemas.openxmlformats.org/officeDocument/2006/relationships/slide" Target="/ppt/slides/slide25.xml" Id="R2de314eac9e94c23" /><Relationship Type="http://schemas.openxmlformats.org/officeDocument/2006/relationships/slide" Target="/ppt/slides/slide26.xml" Id="R9e8d19d5b37d48bb" /><Relationship Type="http://schemas.openxmlformats.org/officeDocument/2006/relationships/slide" Target="/ppt/slides/slide27.xml" Id="R1170fb829304426e" /><Relationship Type="http://schemas.openxmlformats.org/officeDocument/2006/relationships/slide" Target="/ppt/slides/slide28.xml" Id="R77976630499c4b25" /><Relationship Type="http://schemas.openxmlformats.org/officeDocument/2006/relationships/slide" Target="/ppt/slides/slide29.xml" Id="R226e486a1b1f4eb0" /><Relationship Type="http://schemas.openxmlformats.org/officeDocument/2006/relationships/slide" Target="/ppt/slides/slide30.xml" Id="R5a519fe9089947d5" /><Relationship Type="http://schemas.openxmlformats.org/officeDocument/2006/relationships/slide" Target="/ppt/slides/slide31.xml" Id="R5ebf7c81289e4965" /><Relationship Type="http://schemas.openxmlformats.org/officeDocument/2006/relationships/slide" Target="/ppt/slides/slide32.xml" Id="Re2c31480021c48f4" /><Relationship Type="http://schemas.openxmlformats.org/officeDocument/2006/relationships/slide" Target="/ppt/slides/slide33.xml" Id="R9d2a6aabb615421e" /><Relationship Type="http://schemas.openxmlformats.org/officeDocument/2006/relationships/slide" Target="/ppt/slides/slide34.xml" Id="R1f13bd2a724b4c39" /><Relationship Type="http://schemas.openxmlformats.org/officeDocument/2006/relationships/slide" Target="/ppt/slides/slide35.xml" Id="R27b5de7048b6455c" /><Relationship Type="http://schemas.openxmlformats.org/officeDocument/2006/relationships/slide" Target="/ppt/slides/slide36.xml" Id="R0aaeacb678d2479b" /><Relationship Type="http://schemas.openxmlformats.org/officeDocument/2006/relationships/slide" Target="/ppt/slides/slide37.xml" Id="Rd0d740053fd24cd4" /><Relationship Type="http://schemas.openxmlformats.org/officeDocument/2006/relationships/slide" Target="/ppt/slides/slide38.xml" Id="Rcf62775cb6164c4e" /><Relationship Type="http://schemas.openxmlformats.org/officeDocument/2006/relationships/slide" Target="/ppt/slides/slide39.xml" Id="R903ef1f10f844378" /><Relationship Type="http://schemas.openxmlformats.org/officeDocument/2006/relationships/slide" Target="/ppt/slides/slide40.xml" Id="R1b33d1947b9e4f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4bed0b86c442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e65ad289364838" /><Relationship Type="http://schemas.openxmlformats.org/officeDocument/2006/relationships/notesMaster" Target="/ppt/notesMasters/notesMaster1.xml" Id="R16f1fc6c66e441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cf842e183c489d" /><Relationship Type="http://schemas.openxmlformats.org/officeDocument/2006/relationships/notesMaster" Target="/ppt/notesMasters/notesMaster1.xml" Id="R30d63c89f24a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cda6da726b4913" /><Relationship Type="http://schemas.openxmlformats.org/officeDocument/2006/relationships/notesMaster" Target="/ppt/notesMasters/notesMaster1.xml" Id="R67a6a24854d243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89a458579140e6" /><Relationship Type="http://schemas.openxmlformats.org/officeDocument/2006/relationships/notesMaster" Target="/ppt/notesMasters/notesMaster1.xml" Id="Rb475f20f94c340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1869bb2224687" /><Relationship Type="http://schemas.openxmlformats.org/officeDocument/2006/relationships/notesMaster" Target="/ppt/notesMasters/notesMaster1.xml" Id="R9d45f6460dbe4d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6f80b756da4ce3" /><Relationship Type="http://schemas.openxmlformats.org/officeDocument/2006/relationships/notesMaster" Target="/ppt/notesMasters/notesMaster1.xml" Id="Ree02bcddd06047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57bc4d353a486c" /><Relationship Type="http://schemas.openxmlformats.org/officeDocument/2006/relationships/notesMaster" Target="/ppt/notesMasters/notesMaster1.xml" Id="R6e425974e01347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8bcc07c2204db1" /><Relationship Type="http://schemas.openxmlformats.org/officeDocument/2006/relationships/notesMaster" Target="/ppt/notesMasters/notesMaster1.xml" Id="R97b5152bb52e41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598bb29eb64ce5" /><Relationship Type="http://schemas.openxmlformats.org/officeDocument/2006/relationships/notesMaster" Target="/ppt/notesMasters/notesMaster1.xml" Id="R65d938e13ea345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bc5f19cd4947d0" /><Relationship Type="http://schemas.openxmlformats.org/officeDocument/2006/relationships/notesMaster" Target="/ppt/notesMasters/notesMaster1.xml" Id="R6a63f544b7ad4b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eaeaae3d0a4efb" /><Relationship Type="http://schemas.openxmlformats.org/officeDocument/2006/relationships/notesMaster" Target="/ppt/notesMasters/notesMaster1.xml" Id="Rc71d3dd4e61e4c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e436d6d7da48e3" /><Relationship Type="http://schemas.openxmlformats.org/officeDocument/2006/relationships/notesMaster" Target="/ppt/notesMasters/notesMaster1.xml" Id="R8748b70a9a9245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c599faa1ed4f70" /><Relationship Type="http://schemas.openxmlformats.org/officeDocument/2006/relationships/notesMaster" Target="/ppt/notesMasters/notesMaster1.xml" Id="Ra00ceac0209d4c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d3aa24145c483a" /><Relationship Type="http://schemas.openxmlformats.org/officeDocument/2006/relationships/notesMaster" Target="/ppt/notesMasters/notesMaster1.xml" Id="R222ac9ec254d4d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166d9d8d3e456e" /><Relationship Type="http://schemas.openxmlformats.org/officeDocument/2006/relationships/notesMaster" Target="/ppt/notesMasters/notesMaster1.xml" Id="R6b2460ddae9944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ee32ea39354568" /><Relationship Type="http://schemas.openxmlformats.org/officeDocument/2006/relationships/notesMaster" Target="/ppt/notesMasters/notesMaster1.xml" Id="R6ac242e372c240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d3bf7a8e64456e" /><Relationship Type="http://schemas.openxmlformats.org/officeDocument/2006/relationships/notesMaster" Target="/ppt/notesMasters/notesMaster1.xml" Id="Rf78133b625484e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d36d055a5f45af" /><Relationship Type="http://schemas.openxmlformats.org/officeDocument/2006/relationships/notesMaster" Target="/ppt/notesMasters/notesMaster1.xml" Id="Rc02d09fb618149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8c4a87f5534cd7" /><Relationship Type="http://schemas.openxmlformats.org/officeDocument/2006/relationships/notesMaster" Target="/ppt/notesMasters/notesMaster1.xml" Id="Re171d717977d4d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32cb8195964683" /><Relationship Type="http://schemas.openxmlformats.org/officeDocument/2006/relationships/notesMaster" Target="/ppt/notesMasters/notesMaster1.xml" Id="R532d77e72be946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8d338667c94218" /><Relationship Type="http://schemas.openxmlformats.org/officeDocument/2006/relationships/notesMaster" Target="/ppt/notesMasters/notesMaster1.xml" Id="R0893fa00c61e4a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10b015a62c45d5" /><Relationship Type="http://schemas.openxmlformats.org/officeDocument/2006/relationships/notesMaster" Target="/ppt/notesMasters/notesMaster1.xml" Id="Rd1bfb02106bf42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d3e30b7b4d140da" /><Relationship Type="http://schemas.openxmlformats.org/officeDocument/2006/relationships/notesMaster" Target="/ppt/notesMasters/notesMaster1.xml" Id="R70fa2232e7fd4d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4e5af920944ca0" /><Relationship Type="http://schemas.openxmlformats.org/officeDocument/2006/relationships/notesMaster" Target="/ppt/notesMasters/notesMaster1.xml" Id="R78292c70e0564a6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def42a146c34444" /><Relationship Type="http://schemas.openxmlformats.org/officeDocument/2006/relationships/notesMaster" Target="/ppt/notesMasters/notesMaster1.xml" Id="R5d71bd59bc8045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6dd610ccb6d4f77" /><Relationship Type="http://schemas.openxmlformats.org/officeDocument/2006/relationships/notesMaster" Target="/ppt/notesMasters/notesMaster1.xml" Id="Re50aadcad8c041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3c4f75d7384161" /><Relationship Type="http://schemas.openxmlformats.org/officeDocument/2006/relationships/notesMaster" Target="/ppt/notesMasters/notesMaster1.xml" Id="Rbf18116aa13a470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ba6c5fff5c4f69" /><Relationship Type="http://schemas.openxmlformats.org/officeDocument/2006/relationships/notesMaster" Target="/ppt/notesMasters/notesMaster1.xml" Id="Rc767c93f07b240f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a596448d4ff40cf" /><Relationship Type="http://schemas.openxmlformats.org/officeDocument/2006/relationships/notesMaster" Target="/ppt/notesMasters/notesMaster1.xml" Id="Rf141365814a1422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8e628014beb410d" /><Relationship Type="http://schemas.openxmlformats.org/officeDocument/2006/relationships/notesMaster" Target="/ppt/notesMasters/notesMaster1.xml" Id="R50b124dbac42433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85f45987d74675" /><Relationship Type="http://schemas.openxmlformats.org/officeDocument/2006/relationships/notesMaster" Target="/ppt/notesMasters/notesMaster1.xml" Id="Rbc694753f3d7417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6a18c171d26432b" /><Relationship Type="http://schemas.openxmlformats.org/officeDocument/2006/relationships/notesMaster" Target="/ppt/notesMasters/notesMaster1.xml" Id="R27d15d9aefa145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c3d1380e1ae4e40" /><Relationship Type="http://schemas.openxmlformats.org/officeDocument/2006/relationships/notesMaster" Target="/ppt/notesMasters/notesMaster1.xml" Id="R1b2491a3753749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f07ab8098f4f31" /><Relationship Type="http://schemas.openxmlformats.org/officeDocument/2006/relationships/notesMaster" Target="/ppt/notesMasters/notesMaster1.xml" Id="R31465608d6b7401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05cce835bd24114" /><Relationship Type="http://schemas.openxmlformats.org/officeDocument/2006/relationships/notesMaster" Target="/ppt/notesMasters/notesMaster1.xml" Id="Rb5c17562ef8e431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75e6df2c2e84470" /><Relationship Type="http://schemas.openxmlformats.org/officeDocument/2006/relationships/notesMaster" Target="/ppt/notesMasters/notesMaster1.xml" Id="R604b625fe7a54cc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0d8406a93a4433b" /><Relationship Type="http://schemas.openxmlformats.org/officeDocument/2006/relationships/notesMaster" Target="/ppt/notesMasters/notesMaster1.xml" Id="R7474b2e4b6f84bd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52f622bc4e74fa0" /><Relationship Type="http://schemas.openxmlformats.org/officeDocument/2006/relationships/notesMaster" Target="/ppt/notesMasters/notesMaster1.xml" Id="R9d87f19f37a241b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2d369f83f8c4435" /><Relationship Type="http://schemas.openxmlformats.org/officeDocument/2006/relationships/notesMaster" Target="/ppt/notesMasters/notesMaster1.xml" Id="R652463d04252417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530918c284f41e2" /><Relationship Type="http://schemas.openxmlformats.org/officeDocument/2006/relationships/notesMaster" Target="/ppt/notesMasters/notesMaster1.xml" Id="R8726cdf501b049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91215242f47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13fd9ab7244bec" /><Relationship Type="http://schemas.openxmlformats.org/officeDocument/2006/relationships/slideLayout" Target="/ppt/slideLayouts/slideLayout1.xml" Id="R3e20d488668345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20d488668345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c995fdaa34b81" /><Relationship Type="http://schemas.openxmlformats.org/officeDocument/2006/relationships/image" Target="/ppt/media/image.jpeg" Id="R61347b287f904f9e" /><Relationship Type="http://schemas.openxmlformats.org/officeDocument/2006/relationships/notesSlide" Target="/ppt/notesSlides/notesSlide1.xml" Id="Rf15062d9e727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4ece740744237" /><Relationship Type="http://schemas.openxmlformats.org/officeDocument/2006/relationships/image" Target="/ppt/media/image2.jpeg" Id="R1f22f6e20e9f45aa" /><Relationship Type="http://schemas.openxmlformats.org/officeDocument/2006/relationships/notesSlide" Target="/ppt/notesSlides/notesSlide2.xml" Id="Rce5e11acb59f40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373a0cee94d89" /><Relationship Type="http://schemas.openxmlformats.org/officeDocument/2006/relationships/notesSlide" Target="/ppt/notesSlides/notesSlide3.xml" Id="R4257c7e0e8824b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a4b6880904cb5" /><Relationship Type="http://schemas.openxmlformats.org/officeDocument/2006/relationships/image" Target="/ppt/media/image3.jpeg" Id="R6832e116c4f44dca" /><Relationship Type="http://schemas.openxmlformats.org/officeDocument/2006/relationships/notesSlide" Target="/ppt/notesSlides/notesSlide4.xml" Id="Rb248d3eb61f14e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244f4f7ee43e0" /><Relationship Type="http://schemas.openxmlformats.org/officeDocument/2006/relationships/image" Target="/ppt/media/image4.jpeg" Id="Rcf48c65e13e144d8" /><Relationship Type="http://schemas.openxmlformats.org/officeDocument/2006/relationships/notesSlide" Target="/ppt/notesSlides/notesSlide5.xml" Id="Re99dbcace89f4b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4d5c0eeb74393" /><Relationship Type="http://schemas.openxmlformats.org/officeDocument/2006/relationships/image" Target="/ppt/media/image5.jpeg" Id="R84bfabde03594125" /><Relationship Type="http://schemas.openxmlformats.org/officeDocument/2006/relationships/notesSlide" Target="/ppt/notesSlides/notesSlide6.xml" Id="Rb9a8ab0d3b75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7a90661cc4ac7" /><Relationship Type="http://schemas.openxmlformats.org/officeDocument/2006/relationships/notesSlide" Target="/ppt/notesSlides/notesSlide7.xml" Id="R56bf2d21d51045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2c4ab07a648ce" /><Relationship Type="http://schemas.openxmlformats.org/officeDocument/2006/relationships/notesSlide" Target="/ppt/notesSlides/notesSlide8.xml" Id="R21ab1680279447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a04d3b3d44ff7" /><Relationship Type="http://schemas.openxmlformats.org/officeDocument/2006/relationships/notesSlide" Target="/ppt/notesSlides/notesSlide9.xml" Id="R9abe29bb09f5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050c89e7143fa" /><Relationship Type="http://schemas.openxmlformats.org/officeDocument/2006/relationships/notesSlide" Target="/ppt/notesSlides/notesSlide10.xml" Id="R83517da7c85c49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b2ce5a04448a0" /><Relationship Type="http://schemas.openxmlformats.org/officeDocument/2006/relationships/notesSlide" Target="/ppt/notesSlides/notesSlide11.xml" Id="Ref328163a45240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e366e91c34bda" /><Relationship Type="http://schemas.openxmlformats.org/officeDocument/2006/relationships/notesSlide" Target="/ppt/notesSlides/notesSlide12.xml" Id="R7cb5a8f59e8748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8440f0f4f4440" /><Relationship Type="http://schemas.openxmlformats.org/officeDocument/2006/relationships/notesSlide" Target="/ppt/notesSlides/notesSlide13.xml" Id="R7576542de35944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1dea842824d7e" /><Relationship Type="http://schemas.openxmlformats.org/officeDocument/2006/relationships/image" Target="/ppt/media/image6.jpeg" Id="Reb098600372843c3" /><Relationship Type="http://schemas.openxmlformats.org/officeDocument/2006/relationships/notesSlide" Target="/ppt/notesSlides/notesSlide14.xml" Id="R12757f7105e842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5ab821b0b4458" /><Relationship Type="http://schemas.openxmlformats.org/officeDocument/2006/relationships/notesSlide" Target="/ppt/notesSlides/notesSlide15.xml" Id="Rbe52d42b159a40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0b5093ffc4f6a" /><Relationship Type="http://schemas.openxmlformats.org/officeDocument/2006/relationships/notesSlide" Target="/ppt/notesSlides/notesSlide16.xml" Id="Ra5dc48d277d743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88f992412499e" /><Relationship Type="http://schemas.openxmlformats.org/officeDocument/2006/relationships/notesSlide" Target="/ppt/notesSlides/notesSlide17.xml" Id="R9d44cd540adb4f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304cf45cf479a" /><Relationship Type="http://schemas.openxmlformats.org/officeDocument/2006/relationships/notesSlide" Target="/ppt/notesSlides/notesSlide18.xml" Id="Raf0f653264e840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d6242164f4706" /><Relationship Type="http://schemas.openxmlformats.org/officeDocument/2006/relationships/notesSlide" Target="/ppt/notesSlides/notesSlide19.xml" Id="R66c077f528e843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8e603c86a4d74" /><Relationship Type="http://schemas.openxmlformats.org/officeDocument/2006/relationships/notesSlide" Target="/ppt/notesSlides/notesSlide20.xml" Id="Ra0553590592149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7131e4cd4445f" /><Relationship Type="http://schemas.openxmlformats.org/officeDocument/2006/relationships/notesSlide" Target="/ppt/notesSlides/notesSlide21.xml" Id="Rb5a46e1b614f46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84eded5a84fbf" /><Relationship Type="http://schemas.openxmlformats.org/officeDocument/2006/relationships/notesSlide" Target="/ppt/notesSlides/notesSlide22.xml" Id="Re20feb2a47ea48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5d2e0a65b4480" /><Relationship Type="http://schemas.openxmlformats.org/officeDocument/2006/relationships/notesSlide" Target="/ppt/notesSlides/notesSlide23.xml" Id="R493c1673e7a64b0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d5daa59c5414d" /><Relationship Type="http://schemas.openxmlformats.org/officeDocument/2006/relationships/notesSlide" Target="/ppt/notesSlides/notesSlide24.xml" Id="R866cc6555d1b41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f29c432d94d43" /><Relationship Type="http://schemas.openxmlformats.org/officeDocument/2006/relationships/notesSlide" Target="/ppt/notesSlides/notesSlide25.xml" Id="R25b235b9f979437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c48c53f83472e" /><Relationship Type="http://schemas.openxmlformats.org/officeDocument/2006/relationships/notesSlide" Target="/ppt/notesSlides/notesSlide26.xml" Id="R4b298acc102742e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d273721b246e3" /><Relationship Type="http://schemas.openxmlformats.org/officeDocument/2006/relationships/notesSlide" Target="/ppt/notesSlides/notesSlide27.xml" Id="R5c55d38f15ce42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98250d6bd4c80" /><Relationship Type="http://schemas.openxmlformats.org/officeDocument/2006/relationships/image" Target="/ppt/media/image.png" Id="Re273defafe614ed0" /><Relationship Type="http://schemas.openxmlformats.org/officeDocument/2006/relationships/notesSlide" Target="/ppt/notesSlides/notesSlide28.xml" Id="R84fe459a818640e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8727915684662" /><Relationship Type="http://schemas.openxmlformats.org/officeDocument/2006/relationships/image" Target="/ppt/media/image7.jpeg" Id="R545c99b1c07b43cc" /><Relationship Type="http://schemas.openxmlformats.org/officeDocument/2006/relationships/notesSlide" Target="/ppt/notesSlides/notesSlide29.xml" Id="Rb59e5f67178e424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3fc60fb564b84" /><Relationship Type="http://schemas.openxmlformats.org/officeDocument/2006/relationships/notesSlide" Target="/ppt/notesSlides/notesSlide30.xml" Id="Rfb4defc455d6462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21a936f5b4cc7" /><Relationship Type="http://schemas.openxmlformats.org/officeDocument/2006/relationships/notesSlide" Target="/ppt/notesSlides/notesSlide31.xml" Id="R9552f8518d64474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6dd46e9ba4f5e" /><Relationship Type="http://schemas.openxmlformats.org/officeDocument/2006/relationships/notesSlide" Target="/ppt/notesSlides/notesSlide32.xml" Id="Re8130d17a1eb47c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1e0d578e84455" /><Relationship Type="http://schemas.openxmlformats.org/officeDocument/2006/relationships/notesSlide" Target="/ppt/notesSlides/notesSlide33.xml" Id="R97b8ffe0422c47d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95069994b41a7" /><Relationship Type="http://schemas.openxmlformats.org/officeDocument/2006/relationships/image" Target="/ppt/media/image8.jpeg" Id="R88ba336905f84f87" /><Relationship Type="http://schemas.openxmlformats.org/officeDocument/2006/relationships/notesSlide" Target="/ppt/notesSlides/notesSlide34.xml" Id="R9596ad5d1c9b40e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d05018dfd4dc5" /><Relationship Type="http://schemas.openxmlformats.org/officeDocument/2006/relationships/notesSlide" Target="/ppt/notesSlides/notesSlide35.xml" Id="R3080738bd4754a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b4b058d854551" /><Relationship Type="http://schemas.openxmlformats.org/officeDocument/2006/relationships/image" Target="/ppt/media/image9.jpeg" Id="R9bcb21da3e6b4bd6" /><Relationship Type="http://schemas.openxmlformats.org/officeDocument/2006/relationships/notesSlide" Target="/ppt/notesSlides/notesSlide36.xml" Id="R5057832bf7db43e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7694944684fce" /><Relationship Type="http://schemas.openxmlformats.org/officeDocument/2006/relationships/notesSlide" Target="/ppt/notesSlides/notesSlide37.xml" Id="R6a2f8e3130894cc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85b216fd949ce" /><Relationship Type="http://schemas.openxmlformats.org/officeDocument/2006/relationships/notesSlide" Target="/ppt/notesSlides/notesSlide38.xml" Id="R369da7ef4abe49f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9d226de784d99" /><Relationship Type="http://schemas.openxmlformats.org/officeDocument/2006/relationships/notesSlide" Target="/ppt/notesSlides/notesSlide39.xml" Id="Rcf6b5d025f6b415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a8df91b584518" /><Relationship Type="http://schemas.openxmlformats.org/officeDocument/2006/relationships/notesSlide" Target="/ppt/notesSlides/notesSlide40.xml" Id="Rb4474e463e6840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8CE12-652A-4B71-A6CA-8E319F3B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C6E1E-A75A-4C31-96B0-08424271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75E9B-12AA-4865-AC49-DF482F19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1BC1B-F879-409A-A0E1-BF402142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5ADA0-4662-41A2-ABAB-3636721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7032F-DCF6-4A9A-92ED-2C3134B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25D8A-3F6C-43B3-80BE-718CA37E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52347-02F1-47B6-A27C-752DC45F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8AEC7-DC14-4232-97E0-60F9F529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65AAD-EE30-469C-8792-8997BB57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28EE2-B2D9-4AA0-BC65-6277BC52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E868B-E900-4940-8C3C-4E91393A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ADCDE-CE2E-4EB5-B41D-5A1F35F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8B389-1CDA-4946-85BE-98E75BE5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4396B-D2AD-40B4-A020-7D0A005E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CBBC3-A764-4999-A2C0-B2A02661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84F0E-EA2F-48AF-B751-9F4E26CD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F90E3-EE10-458B-83EB-97303621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8228C-EEBD-4B7A-BF9A-08FF115E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03E84-9C5A-46F2-BD4D-FC9E99D6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DED29-2471-4582-B003-16EFBAC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94F6C-5856-4269-99AC-A8C686D4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EBCAF-5456-41E9-A3F8-761E2E00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120E2-53BB-4184-871F-D54AD1D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0B73F-9326-4CBB-9895-FA04B4D7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682FB-0B2E-4663-8B66-CA84ABB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C6DAC-E65B-4881-AAA0-BEFAE8FF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47b287f904f9e"/>
          <a:srcRect xmlns:a="http://schemas.openxmlformats.org/drawingml/2006/main" l="5100" t="0" r="5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09FC33-3D8D-4436-8FEC-D04BCDF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5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48BA4-8E28-4F88-AE98-47E2F4DF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"/>
            <a:ext cx="638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1"/>
                </a:solidFill>
              </a:defRPr>
            </a:pPr>
            <a:r>
              <a:rPr sz="1200" b="1">
                <a:solidFill>
                  <a:srgbClr val="B94A31"/>
                </a:solidFill>
              </a:rPr>
              <a:t>1811—1813 · 劳动、机器与政治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224CB-381D-44B5-B01D-76164B42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F7F2E8"/>
                </a:solidFill>
              </a:defRPr>
            </a:pPr>
            <a:r>
              <a:rPr sz="5025" b="1">
                <a:solidFill>
                  <a:srgbClr val="F7F2E8"/>
                </a:solidFill>
              </a:rPr>
              <a:t>砸机器之后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5F1010-2FA7-4AB9-BDB8-4484262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EE3C8"/>
                </a:solidFill>
              </a:defRPr>
            </a:pPr>
            <a:r>
              <a:rPr sz="2400" b="1">
                <a:solidFill>
                  <a:srgbClr val="EEE3C8"/>
                </a:solidFill>
              </a:rPr>
              <a:t>卢德运动的力量、失败</a:t>
            </a:r>
          </a:p>
          <a:p xmlns:a="http://schemas.openxmlformats.org/drawingml/2006/main">
            <a:pPr algn="l">
              <a:defRPr sz="2400" b="1">
                <a:solidFill>
                  <a:srgbClr val="EEE3C8"/>
                </a:solidFill>
              </a:defRPr>
            </a:pPr>
            <a:r>
              <a:rPr sz="2400" b="1">
                <a:solidFill>
                  <a:srgbClr val="EEE3C8"/>
                </a:solidFill>
              </a:rPr>
              <a:t>与劳动政治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23520-3A8D-407F-9D61-80FDD36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DBF9F"/>
                </a:solidFill>
              </a:defRPr>
            </a:pPr>
            <a:r>
              <a:rPr sz="1650" b="0">
                <a:solidFill>
                  <a:srgbClr val="CDBF9F"/>
                </a:solidFill>
              </a:rPr>
              <a:t>从三地劳动制度，到 AI 部署中的调查、杠杆与制度条款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06F91F-8A14-4943-A997-06CAD4C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06206B-9304-4DB2-AECA-E0DE16CB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图：The Leader of the Luddites（1812），公共领域。</a:t>
            </a:r>
          </a:p>
        </p:txBody>
      </p:sp>
    </p:spTree>
    <p:extLst>
      <p:ext uri="{BB962C8B-B14F-4D97-AF65-F5344CB8AC3E}">
        <p14:creationId xmlns:p14="http://schemas.microsoft.com/office/powerpoint/2010/main" val="783801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DDB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48E0C8-6C82-4B1B-B209-1EEEFD76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47A58-DB54-41B3-82A9-C1450F16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7D040-C857-49F5-8872-68D46302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65F97-A092-4B3B-8561-55FE2A10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3D5AC-2DA3-47BE-B167-22C232AF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B366D-982E-40EA-9B5B-03B2DB1A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31BD9-008A-49DB-AA43-6DCEE612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AEDA4-B412-4B17-AC5A-DD109E6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3FF01-A09B-4C3C-A2A7-27BD092A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159FB-E8B7-4661-9E53-7C050AD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A2420-ECF8-4C05-AFF4-8DDE8FA1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DA472-FA2E-4E71-8491-2189E581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AC2F6-5201-4B87-B926-DA0166E4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FAFAE-1C32-4973-9C3C-DCDF7266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3E7D7-F49D-4F6D-8611-5083055B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E4854-73B3-49AF-B7AA-FA218011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785FE-876D-44B2-BB24-30CE725F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25D25-FE7B-4476-A2B9-D91FBFC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2F6D6-D21F-456A-A6E7-0B57FB0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7A9D4-4660-4B16-A9E4-6B7BDEB8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038DA-2A29-451B-9C0B-57FC8501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05E25-E1B5-4EC8-AEF7-64A8A5E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F09EB-7AFB-425F-937F-6F19B6B6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30BC8-12EA-4550-A2BF-429E03C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04D18-CD02-4504-9B20-037BBD20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26485-6E37-4DF3-B28C-AA58F08A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110CE7-B1D8-40F0-A78B-B4800425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FA964-C7E5-4F59-BE76-375490BB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2C20"/>
                </a:solidFill>
              </a:defRPr>
            </a:pPr>
            <a:r>
              <a:rPr sz="1125" b="1">
                <a:solidFill>
                  <a:srgbClr val="792C20"/>
                </a:solidFill>
              </a:rPr>
              <a:t>先把人放回历史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AEFD0-C14A-4812-B554-D32E9CC2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1713"/>
                </a:solidFill>
              </a:defRPr>
            </a:pPr>
            <a:r>
              <a:rPr sz="3150" b="1">
                <a:solidFill>
                  <a:srgbClr val="191713"/>
                </a:solidFill>
              </a:rPr>
              <a:t>1811 年的英国：战争、粮价与多种生产方式同时存在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258CB9-CB34-4C86-94A3-0E5FA70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A7F68"/>
                </a:solidFill>
              </a:defRPr>
            </a:pPr>
            <a:r>
              <a:rPr sz="1350" b="0">
                <a:solidFill>
                  <a:srgbClr val="8A7F68"/>
                </a:solidFill>
              </a:rPr>
              <a:t>02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2f6e20e9f45aa"/>
          <a:srcRect xmlns:a="http://schemas.openxmlformats.org/drawingml/2006/main" l="0" t="15212" r="0" b="15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809750"/>
            <a:ext cx="4133850" cy="39052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24A2C-1562-4F7F-949A-C83DE908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54DB3-C5CC-41AF-944C-9E7B8B6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战争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E44C5-A100-4EC5-9894-D2969B42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85975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拿破仑战争、贸易受阻与高粮价加重生计压力。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653B22-9F9F-4DDA-874F-F2EC26D2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620512-C0E4-45D5-9256-3FD3DFF3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生产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5DBF49-2A25-4F39-9482-E57A11E9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71775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家庭作坊、转包网络与集中工厂同时存在。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0E33B-277F-4503-900F-EF5B2107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42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440BE1-E1C1-4DF1-B11C-63B6004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冲突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909C64-1659-40F5-80BF-207A9D70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57575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工价、技能、产品质量和机器用途一起成为争议。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E51F1D-5C9B-4268-AB38-90D82E2B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1B6A72-99D7-4060-8A8B-C12CB313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参与者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0EA2DD-F33B-470E-938C-661F5793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43375"/>
            <a:ext cx="962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框架针织工、剪绒工、手织工、棉纺工及社区支持者。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DF7791-B834-4913-A286-03433FC5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5561EC-4642-4E67-8611-40597D29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26957"/>
                </a:solidFill>
              </a:defRPr>
            </a:pPr>
            <a:r>
              <a:rPr sz="788" b="0">
                <a:solidFill>
                  <a:srgbClr val="726957"/>
                </a:solidFill>
              </a:rPr>
              <a:t>地图：A. J. Johnson, England and Wales（1867），公共领域。</a:t>
            </a:r>
          </a:p>
        </p:txBody>
      </p:sp>
    </p:spTree>
    <p:extLst>
      <p:ext uri="{BB962C8B-B14F-4D97-AF65-F5344CB8AC3E}">
        <p14:creationId xmlns:p14="http://schemas.microsoft.com/office/powerpoint/2010/main" val="1868311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DDB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B44AEB-C084-4B79-BA25-7C8257B8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8FAAA-8AFE-44CE-8FD3-DB39957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FB2A8-FCD2-4D9C-9A86-FEACDF8A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AA96A-4A83-4DAB-AE81-F84903C9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C7B8A-06AF-4D93-BAD5-4B28ADA8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89B48-044A-4801-8AAA-BADCFEAA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F18A7-027C-415C-AC92-0742506B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44263-0F43-4D51-B65B-50BB683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ED37B-9088-41A4-955C-FBF3B131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22D65-878F-4FCD-9EAF-8948046A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A88A2-E6E3-4F9C-AC43-E192D54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8338C-35CF-47F1-B2B8-AA98D206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D24CE-B4B7-412A-800F-926B87D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A505A-0F4D-4E2D-ADB9-87B7E9BB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C94F7-DB21-4AAD-A928-8E35C40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A7CDC-B8CC-4EB1-8B58-5EB414F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47E08-7574-4A63-9E7A-7CAB1FD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2C0B7-86C4-4B6D-96DC-C75332C1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8B4D7-2002-4631-86C1-6020D74B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1F416-0010-453C-8980-1774B029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A3290-BBA3-49F3-B334-0B6AAFB1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AAD498-8EFF-44A3-8B90-06DBD08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8F6A3-777B-4328-B7C9-469ED760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8E5E1-66A1-4D8D-92A3-30966FDF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17489-96EA-499F-B010-9F6014A6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811A9-7C79-4341-BDDF-E4D7D94D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B5F00-4683-43A7-834C-020D536C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3B996A-759F-4876-A1C5-B77A13BD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2C20"/>
                </a:solidFill>
              </a:defRPr>
            </a:pPr>
            <a:r>
              <a:rPr sz="1125" b="1">
                <a:solidFill>
                  <a:srgbClr val="792C20"/>
                </a:solidFill>
              </a:rPr>
              <a:t>基本事件线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3F718D-D321-42CB-9F8C-8B2A3DD2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1713"/>
                </a:solidFill>
              </a:defRPr>
            </a:pPr>
            <a:r>
              <a:rPr sz="3150" b="1">
                <a:solidFill>
                  <a:srgbClr val="191713"/>
                </a:solidFill>
              </a:rPr>
              <a:t>从诺丁汉毁架，到驻军、特别审判与公开处决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DBC14B-9C35-43A6-B60B-D65316C4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A7F68"/>
                </a:solidFill>
              </a:defRPr>
            </a:pPr>
            <a:r>
              <a:rPr sz="1350" b="0">
                <a:solidFill>
                  <a:srgbClr val="8A7F68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10E8C9-A369-44DE-AEB2-F06D5288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6050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2C20"/>
                </a:solidFill>
              </a:defRPr>
            </a:pPr>
            <a:r>
              <a:rPr sz="1425" b="1">
                <a:solidFill>
                  <a:srgbClr val="792C20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207D33-648C-4B8D-AED8-6609F3E2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6050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91E23C-157B-4DEB-9069-B1780725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26050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1713"/>
                </a:solidFill>
              </a:defRPr>
            </a:pPr>
            <a:r>
              <a:rPr sz="1575" b="1">
                <a:solidFill>
                  <a:srgbClr val="191713"/>
                </a:solidFill>
              </a:rPr>
              <a:t>1811 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6C6EBA-6594-4188-9E7B-2CC0A004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6050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4F40"/>
                </a:solidFill>
              </a:defRPr>
            </a:pPr>
            <a:r>
              <a:rPr sz="1275" b="0">
                <a:solidFill>
                  <a:srgbClr val="574F40"/>
                </a:solidFill>
              </a:rPr>
              <a:t>诺丁汉郡毁坏针织机架。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0E71A1-1561-4BDE-9AB3-C0E44F9C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2C20"/>
                </a:solidFill>
              </a:defRPr>
            </a:pPr>
            <a:r>
              <a:rPr sz="1200" b="1">
                <a:solidFill>
                  <a:srgbClr val="792C20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A9BA4-C1D9-4742-9A19-E294CC97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43125"/>
            <a:ext cx="26050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2C20"/>
                </a:solidFill>
              </a:defRPr>
            </a:pPr>
            <a:r>
              <a:rPr sz="1425" b="1">
                <a:solidFill>
                  <a:srgbClr val="792C20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F9F20F-A1D9-4E78-837A-664A8140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495550"/>
            <a:ext cx="26050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5AA49B-1E75-444A-8D7E-45D93524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676525"/>
            <a:ext cx="26050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1713"/>
                </a:solidFill>
              </a:defRPr>
            </a:pPr>
            <a:r>
              <a:rPr sz="1575" b="1">
                <a:solidFill>
                  <a:srgbClr val="191713"/>
                </a:solidFill>
              </a:rPr>
              <a:t>1812 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A196BA-9CFD-416A-9B01-10A7E4F5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267075"/>
            <a:ext cx="26050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4F40"/>
                </a:solidFill>
              </a:defRPr>
            </a:pPr>
            <a:r>
              <a:rPr sz="1275" b="0">
                <a:solidFill>
                  <a:srgbClr val="574F40"/>
                </a:solidFill>
              </a:rPr>
              <a:t>约克郡袭击设防磨坊；兰开夏发生冲突。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4D33D4-2C29-48C5-B3B9-6FC9CCBE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2C20"/>
                </a:solidFill>
              </a:defRPr>
            </a:pPr>
            <a:r>
              <a:rPr sz="1200" b="1">
                <a:solidFill>
                  <a:srgbClr val="792C20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1E374B-6533-4AC1-9DAE-0F2DC687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43125"/>
            <a:ext cx="26050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2C20"/>
                </a:solidFill>
              </a:defRPr>
            </a:pPr>
            <a:r>
              <a:rPr sz="1425" b="1">
                <a:solidFill>
                  <a:srgbClr val="792C20"/>
                </a:solidFill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0A8CF9-29FC-4585-8B23-E1F02316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95550"/>
            <a:ext cx="26050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23A52A-35C3-4888-8A89-4E2BA99F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76525"/>
            <a:ext cx="26050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1713"/>
                </a:solidFill>
              </a:defRPr>
            </a:pPr>
            <a:r>
              <a:rPr sz="1575" b="1">
                <a:solidFill>
                  <a:srgbClr val="191713"/>
                </a:solidFill>
              </a:rPr>
              <a:t>1812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72FA5A-8293-46C4-A465-9F74978C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67075"/>
            <a:ext cx="26050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4F40"/>
                </a:solidFill>
              </a:defRPr>
            </a:pPr>
            <a:r>
              <a:rPr sz="1275" b="0">
                <a:solidFill>
                  <a:srgbClr val="574F40"/>
                </a:solidFill>
              </a:rPr>
              <a:t>议会扩大刑罚；军队、密探与悬赏进入工业区。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A9794A-63C1-4ADA-AA29-1FAEBED6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2C20"/>
                </a:solidFill>
              </a:defRPr>
            </a:pPr>
            <a:r>
              <a:rPr sz="1200" b="1">
                <a:solidFill>
                  <a:srgbClr val="792C20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11550F-6B43-4EB7-81C4-01E1A043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143125"/>
            <a:ext cx="26050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2C20"/>
                </a:solidFill>
              </a:defRPr>
            </a:pPr>
            <a:r>
              <a:rPr sz="1425" b="1">
                <a:solidFill>
                  <a:srgbClr val="792C20"/>
                </a:solidFill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9BAFEC-9326-49DA-B0EA-DEE339D8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495550"/>
            <a:ext cx="26050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3C59E5-A39D-4DE1-8264-62EF5A81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676525"/>
            <a:ext cx="26050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1713"/>
                </a:solidFill>
              </a:defRPr>
            </a:pPr>
            <a:r>
              <a:rPr sz="1575" b="1">
                <a:solidFill>
                  <a:srgbClr val="191713"/>
                </a:solidFill>
              </a:rPr>
              <a:t>1813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3CF0F3-DA14-43BA-8E9D-BE817624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3267075"/>
            <a:ext cx="26050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4F40"/>
                </a:solidFill>
              </a:defRPr>
            </a:pPr>
            <a:r>
              <a:rPr sz="1275" b="0">
                <a:solidFill>
                  <a:srgbClr val="574F40"/>
                </a:solidFill>
              </a:rPr>
              <a:t>约克特别巡回法庭审判、处决与流放。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5BE26D-D6C1-4866-BA6E-21FFABCE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8FD4CB-3612-49B8-A637-731EB9EF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7BDD68-F6CC-40A9-8148-603A9C1E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713"/>
                </a:solidFill>
              </a:defRPr>
            </a:pPr>
            <a:r>
              <a:rPr sz="1425" b="1">
                <a:solidFill>
                  <a:srgbClr val="191713"/>
                </a:solidFill>
              </a:rPr>
              <a:t>先理解运动怎样发生，再问“为什么机器成为目标”。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02A7D4-F2CE-450A-BB8B-C3DEEED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D13354-117F-40F6-B162-5D1BEA5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26957"/>
                </a:solidFill>
              </a:defRPr>
            </a:pPr>
            <a:r>
              <a:rPr sz="788" b="0">
                <a:solidFill>
                  <a:srgbClr val="726957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395180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DDB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C3BF07-E69B-478F-839D-864F6CA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EBE44-542B-42A5-9D75-A7DA1992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F90B9-DD81-4793-AD04-8D27792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42D9F-FDE9-44CD-AD42-E7685014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00EC3-407A-48F3-BB9A-0CA7A04E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9ACB8-68CB-4573-938E-8C33432D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E61F9-26EF-4DEC-9158-8483FE00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F8A14-062D-42E1-B8A7-5AC420E8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A5865-E727-439A-9240-506F2D1C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6F6D1-74E7-467E-924B-BB0582A5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76A9A-3095-4286-B40E-6FDCC3D9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DD0CF-9D99-4100-8BBD-6905E48D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210A1-05E3-4D0E-9D15-183B0CF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804A2-58ED-4560-864E-52AE6CBF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8B1E8-A572-416B-8C4B-E605E303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32C96-06D3-4D9C-9BA2-FE74982E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23DF3-5D50-46CB-952D-A3F616AD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88C16-69E1-4704-AFFC-E2F11F7C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BFCCD-35A1-4003-8FF6-A89D2AEC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4C662-2320-48D9-99A8-79144606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B86E1-49AF-46F1-8F76-1A12DA8D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27B34-A0F6-415F-BF14-BAD2FE0B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05E32-3396-4869-B075-E14B048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4B6A0-7CD4-4E7B-9DB1-89D7009B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0E838-890A-4BAE-BF40-18409C24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44E2B-42D1-47F4-86A8-1C507336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C7F3C-410F-4016-B5AA-6EDDF46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C91C79-A9A9-4AC9-B7D2-7C9CE07D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2C20"/>
                </a:solidFill>
              </a:defRPr>
            </a:pPr>
            <a:r>
              <a:rPr sz="1125" b="1">
                <a:solidFill>
                  <a:srgbClr val="792C20"/>
                </a:solidFill>
              </a:rPr>
              <a:t>参与者与行动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A2020-17DF-496C-8C27-92E3751D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1713"/>
                </a:solidFill>
              </a:defRPr>
            </a:pPr>
            <a:r>
              <a:rPr sz="3150" b="1">
                <a:solidFill>
                  <a:srgbClr val="191713"/>
                </a:solidFill>
              </a:rPr>
              <a:t>这不是一群人拿着锤子的单一场景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7C914-C191-49A6-A08A-12B912A5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A7F68"/>
                </a:solidFill>
              </a:defRPr>
            </a:pPr>
            <a:r>
              <a:rPr sz="1350" b="0">
                <a:solidFill>
                  <a:srgbClr val="8A7F68"/>
                </a:solidFill>
              </a:rPr>
              <a:t>04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2e116c4f44dca"/>
          <a:srcRect xmlns:a="http://schemas.openxmlformats.org/drawingml/2006/main" l="0" t="14790" r="0" b="14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971675"/>
            <a:ext cx="4095750" cy="34766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29DC61-1C0E-49FE-9075-8FEB745F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47875"/>
            <a:ext cx="6467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67FF98-15FB-47A8-9686-01D0E30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9075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792C20"/>
                </a:solidFill>
              </a:defRPr>
            </a:pPr>
            <a:r>
              <a:rPr sz="1388" b="1">
                <a:solidFill>
                  <a:srgbClr val="792C20"/>
                </a:solidFill>
              </a:rPr>
              <a:t>公开行动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A11FBF-C84E-4134-A0E6-CA3A96EA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81225"/>
            <a:ext cx="513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91713"/>
                </a:solidFill>
              </a:defRPr>
            </a:pPr>
            <a:r>
              <a:rPr sz="1313" b="0">
                <a:solidFill>
                  <a:srgbClr val="191713"/>
                </a:solidFill>
              </a:rPr>
              <a:t>会议、请愿、行业调查、工价谈判与代表选举。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0D56A4-8B7C-4FEE-BA9D-034ADAEF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67025"/>
            <a:ext cx="6467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9D048A-9932-4EE2-A80E-A334E823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990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792C20"/>
                </a:solidFill>
              </a:defRPr>
            </a:pPr>
            <a:r>
              <a:rPr sz="1388" b="1">
                <a:solidFill>
                  <a:srgbClr val="792C20"/>
                </a:solidFill>
              </a:rPr>
              <a:t>隐蔽行动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A3A423-7CC5-496D-A3C1-EB54B297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513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91713"/>
                </a:solidFill>
              </a:defRPr>
            </a:pPr>
            <a:r>
              <a:rPr sz="1313" b="0">
                <a:solidFill>
                  <a:srgbClr val="191713"/>
                </a:solidFill>
              </a:rPr>
              <a:t>暗号、誓约、匿名通信、筹款、夺枪与夜袭。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7303A0-10B2-4DB5-A694-632DB3AA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86175"/>
            <a:ext cx="6467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F0186A-B3E4-4AFC-8518-3EF0376B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9050"/>
            <a:ext cx="121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792C20"/>
                </a:solidFill>
              </a:defRPr>
            </a:pPr>
            <a:r>
              <a:rPr sz="1388" b="1">
                <a:solidFill>
                  <a:srgbClr val="792C20"/>
                </a:solidFill>
              </a:rPr>
              <a:t>共同目标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D6EA9A-714E-456A-8835-5E11B139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9525"/>
            <a:ext cx="513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191713"/>
                </a:solidFill>
              </a:defRPr>
            </a:pPr>
            <a:r>
              <a:rPr sz="1313" b="0">
                <a:solidFill>
                  <a:srgbClr val="191713"/>
                </a:solidFill>
              </a:rPr>
              <a:t>对雇主施压，也争夺谁有权规定生产规则。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5A21DD-745D-432B-AF53-11BA9389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FAE572-A0B4-4344-855B-08C1C870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26957"/>
                </a:solidFill>
              </a:defRPr>
            </a:pPr>
            <a:r>
              <a:rPr sz="788" b="0">
                <a:solidFill>
                  <a:srgbClr val="726957"/>
                </a:solidFill>
              </a:rPr>
              <a:t>图：剪绒机技术图（1914），公共领域。</a:t>
            </a:r>
          </a:p>
        </p:txBody>
      </p:sp>
    </p:spTree>
    <p:extLst>
      <p:ext uri="{BB962C8B-B14F-4D97-AF65-F5344CB8AC3E}">
        <p14:creationId xmlns:p14="http://schemas.microsoft.com/office/powerpoint/2010/main" val="575257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DDB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A31B0B-0D2A-454E-9D54-89F48CB2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9A859-FF98-414C-8B40-FBF9CA1B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D2C04-A69D-4E1D-A1A0-6F866CE5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52636-3F6A-44C8-9259-52F6398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240D1-67B8-420D-86A9-E7081D13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C1D72-1B57-4C32-A9F9-C650FA56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D9814-C14D-45B1-A822-C92125D9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6AA0E-0B39-4EBE-9561-6B19FF7E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BB7DA-A48F-48D3-9304-89A980FC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7C3F5-FA6B-451F-8B12-A9287D36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3B5A4-3484-43BD-A4D7-EC919FED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18C46-46AD-453E-B1D6-8A2E9D50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1E95C-3235-47CD-91DB-F394C3A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A0673-5A62-4A8F-9143-A4096A4B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3E6DE-3F37-4907-B9CA-47495AD9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9972A-A637-4621-AC93-B9E68D38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0B0E9-5DD1-426C-A6F1-974751B9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F8C61-23CB-4429-A82A-3A2BB06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1707C-70A1-480E-8610-43C9D099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F26DC-42D9-48F2-BE81-C18D770A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E8631-69D9-40CB-884C-CBE1753D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56261-6AD9-4F5F-985B-EC9E5CB0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AE6F2-A555-464A-BEC6-C516D91D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8B1E5-D324-4AE0-A73A-059DD5C2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64B21-3A4C-4009-89C6-7172CBAD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B4ED1-4BD9-4EA6-BD5A-6B9C3892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98BA9-8172-4A26-89FF-0604ECD6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123F43-4E5B-4089-A2F8-6D701CC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2C20"/>
                </a:solidFill>
              </a:defRPr>
            </a:pPr>
            <a:r>
              <a:rPr sz="1125" b="1">
                <a:solidFill>
                  <a:srgbClr val="792C20"/>
                </a:solidFill>
              </a:rPr>
              <a:t>三个工业地区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ACED3-82E9-460B-A3BF-6AB017F9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1713"/>
                </a:solidFill>
              </a:defRPr>
            </a:pPr>
            <a:r>
              <a:rPr sz="3150" b="1">
                <a:solidFill>
                  <a:srgbClr val="191713"/>
                </a:solidFill>
              </a:rPr>
              <a:t>同一个名字下面，是三套劳动制度与三种政治能力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72784-A174-40E4-86F0-DE5B3E42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A7F68"/>
                </a:solidFill>
              </a:defRPr>
            </a:pPr>
            <a:r>
              <a:rPr sz="1350" b="0">
                <a:solidFill>
                  <a:srgbClr val="8A7F68"/>
                </a:solidFill>
              </a:rPr>
              <a:t>05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8c65e13e144d8"/>
          <a:srcRect xmlns:a="http://schemas.openxmlformats.org/drawingml/2006/main" l="0" t="16310" r="0" b="16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809750"/>
            <a:ext cx="4476750" cy="40957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8635D-79A1-4218-AABC-63179C25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5F9C9-514E-4588-ABD7-B1D49A24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诺丁汉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F4598-885E-436A-B946-6BE871E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24100"/>
            <a:ext cx="9553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框架针织：争工价、产品规则与行业代表。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8B214D-C164-4988-B833-FFD81F1B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C3A92C-8C57-410E-841E-38D6926A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约克郡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58A94-E3C4-417B-AE4D-8E4F9398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09900"/>
            <a:ext cx="9553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熟练剪绒：秘密纪律、武装行动与设防生产。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45E6D5-7919-41FC-8D97-626DDFBF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51B2F1-4F37-46F2-A1AC-8513BD0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兰开夏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AA463D-A8C0-475F-B6E4-542245E9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695700"/>
            <a:ext cx="9553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手织与棉纺：机器、工资、粮价、改革交错。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F62463-344F-4C28-8DF7-291CA32C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036071-8192-4CBB-BC7A-C204571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26957"/>
                </a:solidFill>
              </a:defRPr>
            </a:pPr>
            <a:r>
              <a:rPr sz="788" b="0">
                <a:solidFill>
                  <a:srgbClr val="726957"/>
                </a:solidFill>
              </a:rPr>
              <a:t>地理位置为示意；重点是三套劳动制度。</a:t>
            </a:r>
          </a:p>
        </p:txBody>
      </p:sp>
    </p:spTree>
    <p:extLst>
      <p:ext uri="{BB962C8B-B14F-4D97-AF65-F5344CB8AC3E}">
        <p14:creationId xmlns:p14="http://schemas.microsoft.com/office/powerpoint/2010/main" val="223782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DDB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217BC8-6798-4B42-86EF-8B89EC3A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DF28E-81DF-4738-9EC3-47989E52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6F371-4058-4A04-A3E1-6A277773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1969A-0A11-4B58-A9C5-DFF5A467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F9F28-74E8-439A-ADAC-55759E10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FCA2F-3B6A-4019-8739-194FF9D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A5CFA-B7F6-4A23-8F96-A133DCE6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B1DEF-1F45-4506-9E66-593024C9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743C3-30C3-44A3-AC14-8BB6E21B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FE5BE-1643-4780-9F47-B1A95EF1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2E639-D159-416E-9EB5-8BA606BF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49E78-0524-4272-9182-D35D6642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AFF37-C0A0-4D18-9885-DCE2DCF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0595B-3C38-4E09-9297-90D2A416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A78B5-BF4E-4D71-8A03-5D6C2354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3B18B-166C-43D5-B996-51593CCD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B67C4-DE3E-4053-A256-326CF401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7ABFE-86BE-4223-A487-CF28316A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AD0C4-8359-4718-903F-FA69FC00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2AD8E-4CD4-4CFB-9792-1350B97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A77EC-5A50-4893-AB02-1698AF52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180C7-1F16-4269-9D58-876D5D26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3D439-5BA2-415F-A5E9-DC81BCD7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15F69-C4F7-40CE-976F-18DBACDD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166CA-F973-40D1-9748-C4BA1255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F72A5A-C80E-4253-8A9C-1257905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5D89CC-E82D-4B1F-9DE4-D4B7837C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EC61C-B657-40C9-B92A-8F69B3D1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2C20"/>
                </a:solidFill>
              </a:defRPr>
            </a:pPr>
            <a:r>
              <a:rPr sz="1125" b="1">
                <a:solidFill>
                  <a:srgbClr val="792C20"/>
                </a:solidFill>
              </a:rPr>
              <a:t>核心问题由此出现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F6898-17B4-48A9-BDDF-2DA29706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91713"/>
                </a:solidFill>
              </a:defRPr>
            </a:pPr>
            <a:r>
              <a:rPr sz="3150" b="1">
                <a:solidFill>
                  <a:srgbClr val="191713"/>
                </a:solidFill>
              </a:rPr>
              <a:t>机器正在重新分配工资、技能、风险与决定权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8E17B4-E501-47EA-8B4D-37D60B1D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A7F68"/>
                </a:solidFill>
              </a:defRPr>
            </a:pPr>
            <a:r>
              <a:rPr sz="1350" b="0">
                <a:solidFill>
                  <a:srgbClr val="8A7F68"/>
                </a:solidFill>
              </a:rPr>
              <a:t>06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fabde03594125"/>
          <a:srcRect xmlns:a="http://schemas.openxmlformats.org/drawingml/2006/main" l="3166" t="0" r="31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762125"/>
            <a:ext cx="4705350" cy="36671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FB7D9C-4B25-4905-B607-14C95C14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320EFD-7EF2-404D-A4F2-585EE5A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1019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工资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38EA53-76D5-4BDD-B231-60D72B19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133600"/>
            <a:ext cx="9744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效率收益进入工价，还是成为压价依据？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772535-9B53-4117-ABA7-41F35C18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1F41DE-4A84-4807-8089-0ED4C46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1019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技能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1BFD0D-C5B1-4497-BC93-36AA55BE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819400"/>
            <a:ext cx="9744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机器替代技能，还是把技能转移给校对与照管？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D50BD-D5FB-474A-9041-583614C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FB7FC4-F880-4DF4-A641-882CF04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1019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风险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D944ED-919D-441C-B8DA-80BCBE50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505200"/>
            <a:ext cx="9744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失业、事故、错误与波动由谁承担？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45400F-A7FD-4828-B624-9771DED8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74D8EF-A7A1-435D-9609-F2DF01C2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1019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92C20"/>
                </a:solidFill>
              </a:defRPr>
            </a:pPr>
            <a:r>
              <a:rPr sz="1500" b="1">
                <a:solidFill>
                  <a:srgbClr val="792C20"/>
                </a:solidFill>
              </a:rPr>
              <a:t>权威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C87564-16FE-4D8B-BCEC-61C5FC70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191000"/>
            <a:ext cx="9744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1713"/>
                </a:solidFill>
              </a:defRPr>
            </a:pPr>
            <a:r>
              <a:rPr sz="1425" b="0">
                <a:solidFill>
                  <a:srgbClr val="191713"/>
                </a:solidFill>
              </a:rPr>
              <a:t>谁可以改变任务、产品标准与劳动纪律？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866C18-DA46-474A-8404-1330E787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DC09EE-6BF6-405F-BB61-1B62B36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4624D6-BAEC-47E5-BB8D-EE21D5AE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713"/>
                </a:solidFill>
              </a:defRPr>
            </a:pPr>
            <a:r>
              <a:rPr sz="1425" b="1">
                <a:solidFill>
                  <a:srgbClr val="191713"/>
                </a:solidFill>
              </a:rPr>
              <a:t>机器成为目标，因为它是生产权力的可见节点。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D4BCF3-9AE8-4D7D-AFB1-BC9D4ECD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1D96B5-C738-49B2-9F54-786C6F7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26957"/>
                </a:solidFill>
              </a:defRPr>
            </a:pPr>
            <a:r>
              <a:rPr sz="788" b="0">
                <a:solidFill>
                  <a:srgbClr val="726957"/>
                </a:solidFill>
              </a:rPr>
              <a:t>图：早期动力织机，开放馆藏图像。</a:t>
            </a:r>
          </a:p>
        </p:txBody>
      </p:sp>
    </p:spTree>
    <p:extLst>
      <p:ext uri="{BB962C8B-B14F-4D97-AF65-F5344CB8AC3E}">
        <p14:creationId xmlns:p14="http://schemas.microsoft.com/office/powerpoint/2010/main" val="1856749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6EE415-21BB-413E-8234-3679765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32687-147C-4B5B-B5FD-07116D1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066D2-50B3-419B-AD2F-6D342341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A8CA8-4837-4883-9972-C77BACAF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D0E12-17B9-47E1-B023-135AFA73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FFF6B-5F8D-4160-BFA0-13D7F08C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6A2BF-DB39-442A-BE2D-57465E1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10C75-C285-4740-90A8-3E7F100D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19B27-DACE-4A58-AA20-154721D3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017E1-6242-4995-95AE-F82E2A72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39F07-B016-46FA-BD7B-05B7431C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9EA5C-4BEB-42C5-8A7A-CF5F064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A839D-65CE-476B-955A-1E7B2DBA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5A226-2537-4BE5-B120-4874A939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BEC81-61EF-4289-8083-243DB1B8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B1FAC-DAC1-4B69-AB97-0977A35B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7056F-86D2-4081-96CC-D6E630A9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3EA17-9B18-474C-978C-F9082104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BD007-67B7-40D4-9577-5CCD40A2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17708-5A02-4EF8-8DC0-B10CBCF6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C47C0-DFBD-46CB-89BC-9C263C10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410CF-4FA2-444E-9FAE-C435EB3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CDF29-8B17-4BAC-B2BD-994EF998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8938E4-CDD4-4F6E-B316-C922A9C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F650E-7E71-468A-892F-BB19687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A82D9-9049-4434-9DD0-547B9A27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564CF-6542-4E1F-A8C4-B42EB636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0ACBE-547E-4264-B912-488EFFA8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76300"/>
            <a:ext cx="247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125" b="1">
                <a:solidFill>
                  <a:srgbClr val="22211D"/>
                </a:solidFill>
              </a:defRPr>
            </a:pPr>
            <a:r>
              <a:rPr sz="13125" b="1">
                <a:solidFill>
                  <a:srgbClr val="22211D"/>
                </a:solidFill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01040-AC41-4845-AD75-0064C4EC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2E8"/>
                </a:solidFill>
              </a:defRPr>
            </a:pPr>
            <a:r>
              <a:rPr sz="4200" b="1">
                <a:solidFill>
                  <a:srgbClr val="F7F2E8"/>
                </a:solidFill>
              </a:rPr>
              <a:t>三种劳动制度，三种卢德主义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12E1D6-4CAB-4978-A070-BA8119C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BF9F"/>
                </a:solidFill>
              </a:defRPr>
            </a:pPr>
            <a:r>
              <a:rPr sz="1875" b="0">
                <a:solidFill>
                  <a:srgbClr val="CDBF9F"/>
                </a:solidFill>
              </a:rPr>
              <a:t>差异不是背景；差异决定行动能力，也决定失败方式。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2ABB3-238C-4115-A504-5B052623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38BBBE-04A0-4157-9BC0-4893EBDA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生产档案 · 经线从织物转化为数据流</a:t>
            </a:r>
          </a:p>
        </p:txBody>
      </p:sp>
    </p:spTree>
    <p:extLst>
      <p:ext uri="{BB962C8B-B14F-4D97-AF65-F5344CB8AC3E}">
        <p14:creationId xmlns:p14="http://schemas.microsoft.com/office/powerpoint/2010/main" val="1026696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C5206C-B8A5-4EF0-9657-23CC991D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7D3CF-582A-425D-8A85-D56AB178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56ED6-7C6E-45B8-8BD0-BFA22D3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10153-F340-4F2B-B639-B4B1D959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79C1F-2237-45FC-97A2-168B719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87EBA-66DE-4FC1-887A-6A901BEB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9A9CC-0EAD-4420-8BDD-A4B7A36F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338C7-68DA-4DA6-84D9-82C9C6DB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E2571-CB71-4C1C-90BD-A264D8C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F136-4757-4DF4-BBB5-EB3CA33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F8C0C-D5B4-4CBD-B017-CD5B5D5D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76229-4093-4309-B916-B5280876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FBDD9-1B2D-4CC1-8E74-73DF7E96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6F20E-09CD-47A5-9A62-B3438B2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D4138-0367-488C-8282-1F755844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56E7B-2900-4F37-B2EE-AC79859F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783E7-1DC4-49C8-9C52-AEE90FD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18085F-CD68-4639-B4A5-64468122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2A151-F663-4E32-B46F-66A43DBE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55E69-16DC-4606-9A1D-9FFDC93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C7D68-FA31-4629-8CBD-10B2BFCF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29313-9F1C-4DB2-ABE5-DBA5AEAD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F7C4E-1F67-4F6D-AF1D-94D223E7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A82DC-588C-4DFE-9747-BED469AA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C0F218-320B-4011-8AE8-2DC5D8E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3A0A5-92B0-4F38-8A64-9D73A9D8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722CA-595E-4C51-9104-7A5881A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1A6255-29F6-4ED4-90D7-07B97238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地区比较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0FAD0-5EE4-4F11-BBD8-94193061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三地不是同一运动的三个舞台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0B855-17E5-47B0-9800-8987BF5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6D8517-D368-4905-8844-7E3A82A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5CA696-9048-4E76-A305-DBEC51C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诺丁汉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2395A-A7B8-4F13-828C-B44F727F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家庭作坊与框架针织</a:t>
            </a:r>
          </a:p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行业治理与代表政治</a:t>
            </a:r>
          </a:p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失败：协议难覆盖全部雇主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6A46D3-2DDE-45D2-99F7-F846ED1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17E7A9-5C6B-4A94-A852-68E4518F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约克郡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9CB58D-EFB9-4310-90A1-025C0D6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熟练剪绒与集中磨坊</a:t>
            </a:r>
          </a:p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秘密纪律与武装强制</a:t>
            </a:r>
          </a:p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失败：设防、军力与司法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525617-7E09-4AE3-8340-E50892F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2EDFF6-3960-40F4-9C86-1849A431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兰开夏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2D2ADD-C4B6-4B62-A3BC-47BC0C27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手织、棉纺与城市群众</a:t>
            </a:r>
          </a:p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议题扩张与群众政治</a:t>
            </a:r>
          </a:p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失败：联盟异质与内部排除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0029DD-D85D-456B-83E9-96EAED1F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684146-27BF-495E-B3CA-13C71B77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960810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89C6B9-94B9-404E-B6FE-FAF5D21E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4A6C6-287C-4E23-B260-31D2E717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04E20-945A-4949-A341-E4F682E8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D229A-76AD-4E81-8A3F-718CE5B8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69A59-1312-4D81-8A01-A1087A2C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5C8C6-3950-401D-8522-8D4C7606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B946A-64B8-441B-A9D3-645BD538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A07D4-A0D2-46AD-AD58-D04E47CE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0E7AB-9A69-44E2-BB05-C13C1CB5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14210-64B7-4C8E-89AA-E651EBBC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9B058-628A-4FDA-96F8-0283253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9CC00-CA13-426A-AB8E-1D7187E4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12BBE-AE9A-49EC-8B3E-9B4C7548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BA46D-D2A5-4D18-8610-D0484A27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E8626-5CD2-4703-B19B-BC4B3A0E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C181B-58E8-4581-9015-A699420B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FB421-819A-44A8-B431-661B93CE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12C9A-7052-42E1-922B-52365185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2E0DB-41A9-4296-9540-93828D94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54476-2971-4432-A4D1-17CB4BD8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8A4A2-C226-493F-88C2-B607C2D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6C80-A6D0-4D69-9AD1-D5B359C5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9ED4C-C899-413F-8B89-0D90AA3C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3C6A4-B146-485F-ABE0-04D6F55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5B6A2-4A7F-406A-8BA4-74751F42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E4734-68CA-4D09-9B2F-2C694B0A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E49E4-5C2A-42D5-88A7-77D4494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E6A5D-B1D3-41E9-811F-CCA132A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诺丁汉 · 劳动制度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47E22E-577B-4B7C-879D-104E1AA8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机器按它怎样重组生产，而不是按“新／旧”被选择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AEF0E6-D63A-43E2-84A5-32DA4C1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A6B8A8-8BB6-4A15-BE54-E7C26ABA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FB8180-2E61-44F1-ACB4-9825B28D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工价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11AF1-F889-4569-9211-3254E6AB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085975"/>
            <a:ext cx="9553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低价生产的机架成为目标；毁架迫使袜商重回谈判。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397EF6-CDC0-4888-81C7-B33ECE6D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8487A4-7C0F-4D5B-B2FB-72EBA9FE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产品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5D2C96-0780-498E-A7FD-32874796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771775"/>
            <a:ext cx="9553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宽幅织物裁剪缝合引发质量、价格与规则争论。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3B641-0E5A-4762-BA03-17DF140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42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A27BDE-662F-4303-89B9-FDC7A6E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资格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04C6CB-815C-408C-9BEA-E25BF96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457575"/>
            <a:ext cx="9553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技能保护也是排除新人和女性的边界。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1E8D29-5127-4C85-BB57-CA758320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DBD2AD-D725-46FA-8730-29604B8C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209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支付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3A5D68-3067-47E7-A089-33245062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143375"/>
            <a:ext cx="9553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实物工资、机架租金与转包共同塑造依附。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05DBCE-243D-4837-898E-6F109E5A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41A6D8-CDFC-49DC-876E-4BB94288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647138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4729AF-E96E-4671-A76E-758D32FA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85C87-24E4-4C51-88AE-6756D792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37C40-9F8B-4BA2-AE4E-A685C18C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70841-BDAD-4E98-8CCF-ED3E55B6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DDF19-D447-4319-9EAA-A1168936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85D8A-B26F-4A9A-B0DE-9FEBF65F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CF1AF-EF1E-4662-81DB-4734A054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3B490-92D3-48CD-86FA-0B2AD06C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25A48-B3B2-4470-B987-E3B62320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F792A-2C5E-4F01-90FC-0712A92F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ADF05-D865-49A0-A4BC-6A04E8F3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1D168-F340-4C48-A245-B38BAFCF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AA822-42C8-4AE9-842E-46641A3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C2E5B-13ED-446E-B9EF-C8A462E2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E173B-90CC-46A3-A787-6565E63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4E69C-7415-4063-9BBC-717CF2C2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CD91C-6099-4D85-946E-91BE0F59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F7394-5F85-4402-891D-174CCEE6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B610A-D452-43C1-A4B1-7D61261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40453-C589-463E-B446-A401C0C7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6D9AC-86C1-4780-94C2-F902AB9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A885C-4CEF-491C-94D6-5A2BDC2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EE5DA-2D1F-4092-8BCA-8FAA1FC5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D3DC6-97A4-4F93-B407-3088B2FD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DE9C96-D713-4A56-AECD-C54A9FAD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25447-9CD4-4662-B1D4-1912E7E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DB927-578C-41F7-9216-CCFE7B8D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BDD97-E0BA-4C52-82D0-9B56ABA2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诺丁汉 · 行动组合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4AF0E-0944-4987-821C-63A81121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毁机不是谈判的反面，而是让协议具有约束力的手段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57E30-4E35-4C45-8AD0-43A0A0AE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A49F29-AE26-4001-99A8-CFF1C7E9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E0B8BB-7E28-4703-831F-7412BC91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公开代表政治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4B8A1-8F48-488B-B4AD-BB229AD0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会议广告、具名秘书、行业调查、工价谈判、议会请愿。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D49536-A882-4BD4-B631-12629FB3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E46599-E58F-4D17-BE92-5271294B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隐蔽直接行动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1AD83-2EC5-49D4-AFAA-BCA25D7B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匿名委员会、遮字通信、威胁信、夜间小队、定点毁架。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C9EC27-9780-4685-9AFE-61D0BC09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01D8E6-3AFC-459C-9AF7-E87249F5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8227FD-639B-474F-8A8F-285BF97E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政治能力：把分散作坊的劳动知识转译成行业规则。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D52B47-C393-4EC9-B6A5-4A2004C2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184BEF-6B99-4FAF-B78C-95F27E2F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4400697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D83C9F-540D-4142-95C9-8353412E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C50F8-176C-46A9-A5E9-85E4126A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820D3-5132-4692-9E72-81C56D57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A1B03-4933-46AE-9E07-54275478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C9B87-CEF9-4B22-9F9A-DC6AF664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ACFC6-9C19-47B9-9D33-5A9CB245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7C4F4-5EA9-49DC-9C06-51D5670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3B39C-54E4-4CC4-845D-8C434B0B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4D90D-2CA8-4534-9716-4C493929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3AF4F-05A8-4001-8A82-E622CD84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3B43C-04B8-4B26-924F-68E5B8E0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8FF20-52C3-4A44-863B-0BA959E6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2D75F-CACF-4C98-A20B-6139BB2E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9D6D2-3B9F-40AA-A7F9-5B430506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46F13-9FCB-4ED3-994F-EC9C4AEF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19E4F-3FD9-4476-9721-2CAC58C0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D23C6-5A3C-4076-BDDE-BAEF4FCB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4D045-1653-462C-9AFD-ED86D8B7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DBBE5-82DC-4355-BD27-BED627C1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5E005-75F6-4EB4-9590-7FAC0917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FC4AE-2FD7-4C52-BC29-AD18A9C4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6D5C0-5260-4A17-B0D9-474EB776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017DC-7C98-4BF5-B67E-91D3DC7D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D9DAB-C61B-46F3-9FF6-B6C3E8B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3F7EC-A103-4EF1-8A71-669D3F6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77801-CEA1-42ED-A263-B31D30BC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F3523-3522-4E99-BC8C-F337BB25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3F848-0691-46D4-8B34-E00BA88B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诺丁汉 · 代表试验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1E3241-E031-4081-B610-9E536475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106 名代表已经在尝试一种准行业治理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ED972-3917-4EB5-9FCF-208326F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1613DF-9A3A-43CD-AE31-20AAB402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6050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72534-A60F-4457-8BB8-134A84BE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6050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D88AE-9E78-4B0B-B3E4-C90E179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26050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调查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4CC047-2A51-448C-BABA-B756B435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6050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收集工价、产品与雇佣做法。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1683E-B604-4F06-A99F-367DDDBB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44302C-4F08-494A-935F-2F5A9BFC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43125"/>
            <a:ext cx="26050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B908BE-ED40-43C1-8815-CF812ECA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495550"/>
            <a:ext cx="26050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BFB28F-B3E6-4510-B1C4-7452B875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676525"/>
            <a:ext cx="26050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代表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DF2ADF-1C63-4D91-903D-DAAE3FAB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267075"/>
            <a:ext cx="26050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地区与行业代表形成共同说法。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1921E1-46DE-46D6-9D66-DCA707B9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EC0697-3BBB-4E6C-BABD-967E1DDB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43125"/>
            <a:ext cx="26050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9690E0-3C18-45A0-9F0D-B4176217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95550"/>
            <a:ext cx="26050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55436A-414B-4E3C-8F63-50C2FC9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76525"/>
            <a:ext cx="26050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谈判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B5F32D-E340-4A1E-9ECE-7E6B5FD6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67075"/>
            <a:ext cx="26050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把标准施加给袜商与承包网络。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A97771-FD70-49E7-AC5A-BEBDBEA7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861F20-DE10-4FD6-9A16-5822432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143125"/>
            <a:ext cx="26050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45BEDF-8911-430B-98B9-1523A848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495550"/>
            <a:ext cx="26050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03483C-C0D1-4267-B096-46A1AA96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676525"/>
            <a:ext cx="26050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约束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A466BF-71F5-4681-9F5A-C0D0378C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3267075"/>
            <a:ext cx="2605088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以纪律和毁架威胁执行协议。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AC2F59-E2A0-4228-847C-27D3C365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D8BF51-6E0C-403C-B02D-6298C67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2F307F-E855-4E9F-AA8C-610F4DBF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局限：代表网络、财政和执行范围仍高度地方化。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998CD3-ED14-401C-940A-5EC76173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1ED460-D2A5-46F2-9AEE-9703C77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530298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948E6A-B6CD-4F49-8004-A4A375E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9EF84-A4A1-455D-8B83-3878DEF0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44EE0-43FC-45F2-AA3E-B4A8D3BE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BD38A-0758-4E3D-A18F-0B34ECA2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B1045-EAF3-4289-9FA5-A853AFB2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18C21-B9D8-4C03-82B8-345D9307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1C587-7136-4F69-86E2-4699CDB0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12650-6659-4B31-A780-C06BD84B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2B40B-50CD-40D7-BC1A-66F2505E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F4F79-7230-481C-8DCA-5984CF3B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1EF1F-D7C8-48E3-A29E-98A0F52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B994E-53C5-44D1-AA79-9740D66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1422B-53EF-4276-9C5D-11BCA961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C6C22-490E-464E-B8CF-580DED4D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5414E-2DE0-48CB-9142-FAD2D916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2699C-B255-4181-9A4F-5F21B08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B8819-0FC3-43B2-96D9-C3020DA0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66D38-773B-45C8-A1EB-70819A22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B863C-3711-4D90-8FA5-EBCF11F7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7D275-C878-4911-8BFE-6181132F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1A1F0-0836-4717-A076-CCA2A9F8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2564B-4C84-4060-BBE7-8EB351A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ACFAB-46ED-4ECD-9D7A-6549F097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91CB6-0E58-4305-8990-C4B60CC5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2D1EF-81CA-4C4B-95DF-793C9667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721ED-9220-4FFE-8BD8-5611DA44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64301-7B28-4160-AC89-657D6819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424F7-68DF-4C45-A7C9-625CE473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约克郡西区 · Rawfolds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D712A-1ADB-462A-A02A-29A96742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工厂已成为资本、厂卫与国家军力共同构成的设防空间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F23EF-0340-4098-B55E-E4092F4E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7B2CC-CC64-4409-8F49-86816AD3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911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714"/>
          </a:solidFill>
          <a:ln xmlns:a="http://schemas.openxmlformats.org/drawingml/2006/main" w="19050">
            <a:solidFill>
              <a:srgbClr val="B94A3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B3731F-5601-4750-B23D-84B0DCEB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4648200" cy="341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3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B01124-FECB-460A-8D11-0A926CD8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41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31"/>
                </a:solidFill>
              </a:defRPr>
            </a:pPr>
            <a:r>
              <a:rPr sz="1200" b="1">
                <a:solidFill>
                  <a:srgbClr val="B94A31"/>
                </a:solidFill>
              </a:rPr>
              <a:t>受版权限制图像占位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BC730D-B03C-4739-9566-FA09EB9A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2E8"/>
                </a:solidFill>
              </a:defRPr>
            </a:pPr>
            <a:r>
              <a:rPr sz="1875" b="1">
                <a:solidFill>
                  <a:srgbClr val="F7F2E8"/>
                </a:solidFill>
              </a:rPr>
              <a:t>Rawfolds Mill 夜袭 / 设防磨坊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452433-45AB-467A-90C7-0382E3BE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419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F9F"/>
                </a:solidFill>
              </a:defRPr>
            </a:pPr>
            <a:r>
              <a:rPr sz="1200" b="0">
                <a:solidFill>
                  <a:srgbClr val="CDBF9F"/>
                </a:solidFill>
              </a:rPr>
              <a:t>建议 4:3 历史版画或遗址图；突出高墙、门窗、攻击者与防守者。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40B923-1A02-4764-A97E-0E65A0B5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B91EB7-ED56-4AA4-A3A3-930305BC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劳动制度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1710A7-673E-432A-86C0-FCA6EA71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24100"/>
            <a:ext cx="9505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熟练剪绒工面对集中生产和剪绒机械。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AD4AF7-83CB-4E80-8891-0C47427F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D0A313-83F3-4935-9DD8-170E6B57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行动组合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90C207-FFBB-4A2C-A22F-884584F5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9900"/>
            <a:ext cx="9505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誓约、夺枪、队列、警戒、夜袭与沉默。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DAB3E7-8C3C-46BA-A8B2-788791DB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31FCA5-C3C6-42B0-B598-6434B9D7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失败方式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F6B5DC-E408-447C-9A87-10206AFF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95700"/>
            <a:ext cx="9505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加固门窗、厂卫、驻军、情报、悬赏与追诉。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DCD70A-D16A-48C0-9DA7-28841C60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F257F1-13AB-4A30-9745-930787F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1812 年 4 月袭击未能破门；关键是能力不对称。</a:t>
            </a:r>
          </a:p>
        </p:txBody>
      </p:sp>
    </p:spTree>
    <p:extLst>
      <p:ext uri="{BB962C8B-B14F-4D97-AF65-F5344CB8AC3E}">
        <p14:creationId xmlns:p14="http://schemas.microsoft.com/office/powerpoint/2010/main" val="1861133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34AC69-E917-4A62-B3C6-BFFB056F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085EC-182D-4292-B879-38F0266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ACDCF-A61A-43E5-B73D-9C540331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37AC3-5A2E-4520-A1C7-4984C010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C8882-D928-4798-9776-A864E960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32CE6-AB15-4270-BA94-EDE3E2A8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31616-3C41-4696-B341-55CFD29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CA13-1C9D-4B53-8D3B-50B176B3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BD22B-22DC-4574-8E99-E403521D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70A36-F8B6-40B4-99C0-26ECE368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D124F-D37C-412F-952B-2128C865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B39FC-687F-43E5-A116-86BBB78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D5C76-0FC0-49CD-B496-95BF293D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0FAA4-83BD-4BF5-B892-D87E1967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082C0-435B-44D0-9F22-DF43101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153A2-D81A-4445-87E1-F58C7E2A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3B441-B4A9-4946-9F2E-4F86BECD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F9347-9811-4932-A6E9-62AA30BE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7EB68-E550-46A0-8980-9B0BE9E2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FFDC7-6F84-4DD8-B675-DA447A5F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CFF7D-4282-47B6-B2CE-71EB5648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9AF28-B360-42C3-A1F9-163CEB33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F9DE6-CC63-4AC5-A3E1-8BEF444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011B0-3503-4E48-ACB0-30CBFFA6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8522F-6563-4A15-B009-F6CAD3F9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42B30E-AD37-4489-A1EB-6F6BA857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7BF9D-A1AE-4BD4-9D3E-15D661BF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67B6F-A167-4842-BF8F-2BEFC9C1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约克特别巡回法庭 · 1813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DDB28C-F5E2-44CD-B390-AB18D73A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国家不必驳倒一个运动；它可以把运动拆成个体罪名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7584A-2F38-429D-BA41-47EF0AC0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D41FAD-8031-41EC-B76E-1713AB61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579EB-CA87-41C4-A6C3-553C523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谋杀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BA892-E00C-40A8-8CD4-C06D4682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把政治升级重构为普通刑事暴力。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97BABF-E30F-454F-87A0-443CC27D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4A3E66-9D1E-4798-B871-97B8572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抢劫／入室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D39F3C-7BB2-4DC9-90A7-656D8F9E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把筹枪与准备拆成财产犯罪。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6D297C-E172-4EEA-BEC6-B818F46A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263A37-00A7-4F72-B447-6F7637B2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暴动拆毁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8B1672-C623-419B-BFD9-6FC880F0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把共同目标还原为个体行为。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A20EB5-B6E6-412E-9D07-F8A1536F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2E7702-747D-4EC1-8971-83B2F76B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非法宣誓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8C0DB3-3AED-4EF0-AA33-313534C6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直接打击秘密纪律与联系。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E733E9-F454-4B33-B964-F2E462AB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14DE2C-F543-4243-90AD-71530F84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D7210E-7656-416C-AA74-32EF9985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66 名被告；18 人获资本刑；17 人被处决。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0D5D11-B24C-44DA-96A0-3C0F7D8C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01642E-671F-4FFF-A2C5-1426179C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3162798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5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30AFF3-523C-4864-A199-E9705ED5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22D31-0FCA-4F63-9081-796DD855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324E5-C63E-423C-988F-B608B80D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4BF63-48DD-4FE8-B37E-7E6AF4A2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3BD28-A07B-4C86-9EB6-394DB81E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6CD4A-C464-409D-B95F-DD955716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44E49-DF36-4724-B784-2B7E7B7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C1D30-9678-4260-9425-B677BB32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BCA8B-F080-4763-BB83-8570BF22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10598-3B7B-421D-8D32-E561C1EB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84C96-D334-4C0C-BDB0-3DD0258E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23291-3EEF-4962-8341-9C2E2815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5FE6D-D00D-4929-8095-9C8898B3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C90A2-1974-4092-8C3B-D8BD6334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B72A0-C7C0-4548-8B36-FE825CCA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C1B36-45BC-4CC7-BDB7-701FF25A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8FFB4-0129-4730-BB91-A7CF7F3D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92B44-1264-40C0-A8B7-13DAD70E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2E49F-78BC-49B2-BEB8-62EC847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89CAB-1EF4-4E96-95F6-298041D2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BBFE4-1EBE-40B5-BB4E-250541CC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ECF85B-1C3F-4926-AD58-B05ECB90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B9711-4DB1-408F-896E-BAB10CB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F7394-B277-452A-A11A-E9DD1781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4F1C20-DCD7-4745-9D23-84E78AF8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6B567-E328-45F4-B0A7-E90C7268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F0751-C221-45AD-A99E-508B9AFA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AAC95-8221-4368-A3D1-0D7347B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兰开夏 · 异质群众政治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42EED-855B-4A28-94F7-281FB1E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机器、面包、工资与政治改革没有整齐合成一种诉求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76CE30-D4EA-4A2D-828A-DEA8ADBC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14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98600372843c3"/>
          <a:srcRect xmlns:a="http://schemas.openxmlformats.org/drawingml/2006/main" l="8387" t="0" r="83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952625"/>
            <a:ext cx="4429125" cy="36195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F996A3-B113-44E0-B6AD-77F6B87D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E68A9B-920D-4193-90EB-5F7C7DE5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参与者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94F87E-09CD-49D5-9607-81EDC0C1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手织工、棉纺工、工厂劳动者、妇女、青年与城市贫民。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2AB99A-85E6-4367-AA1A-9D368B70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B48389-F830-422E-8834-6817E066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57525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诉求叠加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4EABAD-1562-43B4-93A6-7E82E4E5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动力织机、失业、工资、粮价、战争与政治改革互相放大。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6520B3-F9BC-44E6-A758-393F6709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B0430B-E395-44BD-BD5D-7D7B158C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76675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政治能力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8436CB-AE77-4058-A508-6364BD9D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508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规模扩大，却更难形成稳定、可问责的共同纲领。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C2348C-0BB6-4FCD-8117-CAFB4AF3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20A085-DF50-4395-82EF-BF7F73B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图：Barton Hill Cotton Mill（1837），公共领域。</a:t>
            </a:r>
          </a:p>
        </p:txBody>
      </p:sp>
    </p:spTree>
    <p:extLst>
      <p:ext uri="{BB962C8B-B14F-4D97-AF65-F5344CB8AC3E}">
        <p14:creationId xmlns:p14="http://schemas.microsoft.com/office/powerpoint/2010/main" val="6983285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DC2250-6B1E-4D92-BC7B-E3955282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B369B-4FB4-4393-B15D-D98194A8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70C2E-521F-41FB-A3AF-F435F87E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6F2CC-67A4-4A6B-8F83-888B00E7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DDD98-E076-4F34-9C97-C45A9557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46EDA-5470-4994-B2FC-7533AE95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40CA1-00DC-4C85-A2C8-69999B0C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17FC0-C0B4-40A1-BA7A-C3F9C358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C020F-B349-4DDF-8074-CE0877F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B5F58-BEB4-4DF6-89FD-827EE4D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63775-F683-4B02-A29D-00C07189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890E9-03BA-4BFE-A36F-B6B7CA88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1D1F7-E6F7-4422-8E37-2D3ED5E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9C6B6-0E0D-4549-B8E8-E1727787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BF877-89A8-474B-8F9F-953A0FD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3244C-E317-4BD1-8273-D8D3913F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2A9A0-9A5D-4B1D-8539-40598749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67594-CBF3-4E7D-ABC5-AB51080F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77B4C-07E9-4B88-B3EE-9C470FD6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DA590-9FD6-465C-93F5-23686180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90990-CF89-4EC9-BD4C-3046EDE0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A6B56-4989-421B-8C84-8FD1A7A9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78FD15-242E-45A9-B3BD-67EE83A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52E4C-6A66-45C2-81BB-122B2C49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158E6-CB34-4F8D-BFE8-60E88647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AE18C-A357-4605-9BE9-5EED03F5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5563A-C636-4CAC-BC5B-7D22E148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7787F2-5AA8-4281-91B9-E1334F87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共同规范也会排除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C6B6EC-74CC-4ADA-94EE-6360AD1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劳动抵抗可以反对资本，同时排斥另一群劳动者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85D472-68BB-4700-9FEF-24A18BE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5C41B-E805-47AE-B5A9-FF420F7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72977-47F7-4054-B1D4-C916BCAF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内部边界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16BEDD-E68B-4032-B399-6E3DD47C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一些男性工人把“保卫劳动”表达为解雇女性劳动者。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4E37C8-82F2-4BB2-8564-2C20443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77492E-F9ED-48FC-935D-6C877830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分析要求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CA904E-D8E4-4AA8-B96D-8DE62E77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任何“道德经济”都要问：谁被承认为合法劳动者？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80A2D-0C6A-4020-B320-386857F7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8F351F-D1F2-4E15-BA0A-AFAA966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39BCEE-3588-4208-BC6C-B9DE9EF7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共同体不是天然民主的。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70151-A0A0-47B2-8592-EE9298B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ABD3D0-7DEF-4199-80AF-333C16A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6656290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AB4EA2-9550-4BFA-B6E7-807D93F1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6CB09-FD7A-45A7-89D2-B6AA9059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A39C2-1864-4F23-A3D7-42231250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596D-6E0D-446C-83D5-F843E674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6D8E3-2915-4CE2-BE5D-7C1B01F8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D11ED-E7C1-43E4-9130-A790BA0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52C95-F427-4A3E-82FA-4AE603C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5F24E-9369-4046-9AF7-C63445EE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3C434-5FDD-49E1-95E8-8842A279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68200-2624-4771-9C0B-D0980A50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C3620-056F-42C4-85B9-D0CF979D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83C66-A376-4D07-9811-EAFDB747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2CB35-A90D-4B3A-B094-85B400D7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6AAC2-9BD6-43FD-AB27-70534074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3912A-C96E-4746-AF6F-08707F43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D5E60-6CE3-4A1E-AC7D-2433D659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6A46B-21A7-4DE7-8524-B81D4066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EFFA7-4E44-46A3-8E1C-E91688AD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5E2F5-06A8-4761-B8AC-1EF99DEB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99AFB-E66A-44DD-938F-5F12534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57D1E-D72A-41D6-A511-99D75FBC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ED1B8-A659-41E2-95CE-946A1188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66402-1B5F-4840-A12C-04E6C0B6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14F76-640B-4E86-BE5D-2629BC6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5E090-FE48-4208-928A-0676BEA0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1085F-6AC0-4EB1-9C97-7DBB6E83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99C18D-D700-4FAB-9444-F7CFE9F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F9A3B-A866-42D5-A1EF-AF09C6B9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三地小结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861C2-D2F4-410C-AF8A-F0FC022C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不同、且无法自动合并的能力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1FF912-DCD4-45B9-A1A6-92691BC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55533F-AA4D-4CFB-866C-B2B0BCC4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F90316-F34D-4751-9D1A-16DB5E08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地方知识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D2115C-CB40-4F44-AC03-32E153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85975"/>
            <a:ext cx="9410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诺丁汉能辨认工价、产品、资格和支付规则。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14AAB5-0904-4C7E-9250-84B6933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0A407-80CA-4AB7-B4B9-D80E89A1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秘密纪律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02DDA2-A5AC-4B0F-B234-41418D9D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71775"/>
            <a:ext cx="9410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约克郡能在镇压下动员，却难获得公开授权。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C7CEDF-28DA-43D2-A54F-0174988D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42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954ED9-C3B5-451E-81A4-C1C3524A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群众扩张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D12094-3952-46CC-9F8C-EA3429D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57575"/>
            <a:ext cx="9410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兰开夏能扩大议题，也放大联盟与排除问题。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6AE0C3-9468-4638-B442-D5FE2591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28F9C7-A6C2-4268-A2E5-4B440C8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共同局限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80056C-5FAB-473F-AB74-398301F1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43375"/>
            <a:ext cx="9410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地方胜利难保存为跨地区制度与国家约束。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B92B09-B2A7-41C5-B5DE-D9E58DCD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8AFBEA-08BD-418D-A9D3-D8A97D2C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34953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48A249-8C5E-4434-829B-A0C7ABD1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451EB-17B9-4262-9936-D8CD77EA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9B846-7460-4755-8930-0ED40040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6F1FD-EB1C-444C-B24D-266F87FB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AE5D6-3A33-4F95-8CD4-95B73869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E1787-F301-47B8-9D52-11440591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1BB2C-DD9F-4056-A2BD-8CD06006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98CA1-A137-42EA-BE9C-BABD43C6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42137-9FDF-4558-AD17-4BF1B2CC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82B4D-ECBE-408B-BBD2-29BFD1E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D83DD-1A3D-40AA-B3EE-5BD6C6A8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EC28B-2C52-446D-8B25-56112EF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4755A-8A60-490B-A610-2BEC5242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BADD1-89B3-4589-8B31-A5C1A44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AC329-694E-474A-9499-2EB5D00B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888F5-208C-489C-AA43-EC0077AA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E45C0-BE48-46F4-B3E4-717075D0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1544E-9ADB-4BF7-8524-63DFA7C1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4C666-4C34-4FF9-85E7-8F7F360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95C48-03BC-4879-AF16-954A0FDC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7C4AA-E02C-4827-A2C5-BFA95354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6C507-EA86-4029-9DE4-8E70BC7E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93B93-ABD3-4268-9FBE-684C8834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56CD4-F49B-4E36-B8E5-726AC417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9205F-59BB-4871-9551-EB31AB21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114844-4EBB-4C61-B503-3FD4E7C1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489439-22B7-4486-A330-2484F72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8E201-2CF8-4C8B-8A4F-458B55E0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76300"/>
            <a:ext cx="247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125" b="1">
                <a:solidFill>
                  <a:srgbClr val="22211D"/>
                </a:solidFill>
              </a:defRPr>
            </a:pPr>
            <a:r>
              <a:rPr sz="13125" b="1">
                <a:solidFill>
                  <a:srgbClr val="22211D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24D77-D14D-46C0-AAD3-19AC5E40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2E8"/>
                </a:solidFill>
              </a:defRPr>
            </a:pPr>
            <a:r>
              <a:rPr sz="4200" b="1">
                <a:solidFill>
                  <a:srgbClr val="F7F2E8"/>
                </a:solidFill>
              </a:rPr>
              <a:t>四次力量转换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5C4984-F761-4DDC-A34E-B7F15FF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BF9F"/>
                </a:solidFill>
              </a:defRPr>
            </a:pPr>
            <a:r>
              <a:rPr sz="1875" b="0">
                <a:solidFill>
                  <a:srgbClr val="CDBF9F"/>
                </a:solidFill>
              </a:rPr>
              <a:t>卢德派不是没有组织；难题是力量怎样保存、扩大并受约束。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C408D3-02C7-4C55-994D-BABDC476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0B892D-31AD-4F94-B6CA-ECA974B6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生产档案 · 经线从织物转化为数据流</a:t>
            </a:r>
          </a:p>
        </p:txBody>
      </p:sp>
    </p:spTree>
    <p:extLst>
      <p:ext uri="{BB962C8B-B14F-4D97-AF65-F5344CB8AC3E}">
        <p14:creationId xmlns:p14="http://schemas.microsoft.com/office/powerpoint/2010/main" val="20931949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75862E-EC77-4A62-A9EA-AB854B2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8D06D-C5C8-43FE-AB4B-2FF7EE3A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79426-74F1-408E-A1C8-AFB4C67F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AC26F-561E-45C6-AF59-FADAC704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94214-7CFE-44A6-8D4F-16844631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3E340-9F79-4F5E-AB02-4A7AF284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A1462-8211-4DCB-9CAC-5A5C6DB0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D0B34-D860-4C9C-BC6C-5D14BC0B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F7F03-4D91-486D-BEAB-D43491F3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1A890-32AC-4288-B8C3-1ED7EEEF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C1CD3-2AB4-460D-A66F-D2244662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32E39-BCDD-41C9-80F7-EB9C66A9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3A1A1-D0C6-4657-8D9E-54AAD6DC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9B0EF-17DC-45FC-AFED-0A0276D4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7D1E0-7116-4344-BEC6-6EEC0BCC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103B6-8539-43B2-A383-1AB8DC87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89801-EC5A-4F7A-8AEA-7DD1E176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22E8B-2D76-421D-A128-B9D10267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AD92E-A078-4E3D-A424-3AE48441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8DF28-CDD2-4672-9688-4AB17F32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C460F-6351-4B07-90D1-5880CFAF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0BEB6-FDDF-40EA-B909-0ED1891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0B2D2-0C42-4B8D-AAAD-EB56C752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DEDC4-464B-49E4-9FA0-2060526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73861-1C35-4EC4-9C51-13951895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B292A-2D44-4749-82B9-1AB19E70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C8321-17D7-4C68-AD9D-A88D3922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6238E-1692-451D-BCE2-61868111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转换一至四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A6D71-095E-43C7-98C9-BA13540C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每次转换都需要新制度，也会产生新权力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81C9D-1D01-40A4-87EE-DF0FB5DC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C41133-F665-416B-98A0-F7E2F3BE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75DCE6-1CE2-4445-B1A0-11D7D2BC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地方知识 → 共同纲领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68B964-0335-4A88-9165-F89034C0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859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行业细节进入跨地区协调，又不被抽象口号抹平。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7D3F5E-1DC3-4C9E-A2B8-D7FEDC4C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799448-7755-4DF0-A84B-6D91B78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秘密纪律 → 公开授权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0EB7F-9712-4B08-84DC-9AE12C59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717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行动安全连接代表范围、批准、撤换和信息回流。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176021-5B05-4303-B5B2-4803ADE7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42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C5AE1D-4474-475F-AF2B-29967BBA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扰乱杠杆 → 持久制度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4A2ED8-D649-409B-BCC3-70D984AE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575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短期让步保存为财政、记忆、谈判和可执行条款。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65ADA8-40E0-4CB6-BE05-91EB16C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592EAB-1117-4E99-8010-5E166E49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工作场所 → 国家政治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F59AE2-BD40-4B47-BB11-FE0BABF2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1433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地方要求进入法律与政策，仍受基层反向约束。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F443D3-F028-4A12-991B-A672E467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2095A7-5EE2-4BC0-8066-DE6E3822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6499327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76DAFB-0E29-4568-8C6A-6748F646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FDE1D-D6E8-4D4B-AB4A-02D4DA7C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0E8DE-682B-4AB8-933A-01FAD1F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07F60-D73C-4E42-BABC-D69F47B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CE421-3F24-4041-8D5E-81A8419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9EBCF-78A6-4257-B0CD-0091DE9B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80C99-C809-4C87-9A87-C10A8094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15012-F337-42DA-A786-4D503B37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E9891-22EB-4825-A2FC-A72649C6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DC2F5-2AAB-48A0-9A99-64351660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D4201-465F-4E32-B02F-47FBDC2E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C520E-59D7-4705-A927-6D2FF20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0CB87-912D-451E-A190-8F12D58B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C6979-1173-43A8-99A9-73A1B4CD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ACB83-5A54-4023-9DAE-01855C9D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C369D-51DB-427F-865C-51CC7FD2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EE300-E7B0-4CD0-B081-C39EB225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B5FB9-F6E8-44BC-87E2-6C4BBE9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71023-EAF9-4E3B-8F3E-34D4D67B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F996F-02D0-42CF-A1FA-060D34A5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7122C-8750-4DAA-876B-E33D71B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77920-4DC0-4179-8A77-AE266DE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E6581-30AB-4F8B-A5FA-54EC7008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BCF1D-5E49-49AD-8A03-010298F5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E7215-8FF7-49BF-B5BC-1E1C8546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82C1E-25B8-4113-BE83-D7908077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1BE64-F20D-4B87-9680-D725C677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CE5AC-5CF9-44A8-B37B-259773E9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国家不是外部裁判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DD63D-92A1-4543-A094-D7B14232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技术变化由所有权、强制与分类共同建构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D90D1-FD60-4187-8AF8-E6A304B7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2C6BE-FD2F-43BA-BCE6-513B2E7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A479BE-262D-44D8-8B35-D20D44B2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所有权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EF2E23-897A-4853-AA06-23D09E7F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谁拥有机器、订单、工厂、数据与投资决定权？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ABB1D-692C-4BA0-BC91-557226D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1616F-7913-4C79-8242-90935DF7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强制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A01758-773F-4C6C-B50C-72355B5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谁能设防、驻军、监视、悬赏并保护证人？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8D2D54-EDD6-458F-A672-CF109305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47C109-87A5-44E5-B7A8-BBD43326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分类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7C8968-E370-45E7-AE02-5DB5AE2C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谁能把危机拆成毁机、抢劫、宣誓与谋杀？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99C304-13A3-4B9E-B3FB-E815CBF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CD7E7C-408A-4AA7-9FBF-9B15A4E3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963CA0-70D1-4915-81B3-0B30808A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局部胜利若不能约束国家尺度，就会被法律与市场抵消。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AA2C0F-A3C7-4F0D-9B9C-876ADC95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CE20DC-DEDF-4E52-8E2B-381BA6C4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6946170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855AD3-1C09-4158-8A4A-4E96E75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976E9-7DDD-49A2-96DE-54167ABA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EA64D-F4C3-45A6-BE5C-880E3278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B41E1-90CB-46DE-9B8F-D2B1E09C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4AFB9-9702-4A0D-AE3C-75EEE786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81720-47C9-40E6-A943-D7514AF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1B676-DE18-4DE7-B4E2-D8DC47A4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0E963-4266-4A12-88F7-5D32D0DD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B3A8B-9F85-4D39-BD3B-FD764349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859D1-05FB-4433-ACD1-8ACD32B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D16F3-FCF4-4551-891E-D9B9FC95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56D41-1331-4F66-AB75-712215A2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7D941-50EE-44D2-9EDD-0C8C862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CDDFA-8606-4739-AF67-425C8710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BFF41-47B4-465A-8904-5604BFB4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A7055-59E9-4431-99A6-F41E2B1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A28CF-4D33-4270-9BE9-5F9A4691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DA4C2-3A26-471A-9EF1-2D073263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2C4E7-6D3B-461E-940C-ADAAD227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F7A02-7142-4B55-AEBC-FBD53670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4708E-73E5-4DAC-90B9-9DE028C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3035F-906E-462E-A7F4-4888D841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46EA2-A639-4CEC-9240-A8F9835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9DC2E-4DCB-411B-8F4F-01890828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DE165-A0EA-4DA9-8367-E2FBAAEA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DC468-3ABB-4FDE-AF2C-5BD4A6C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EF2E1-166B-4578-AD72-EE1945F5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F92A2-94A9-47E4-B807-FA33C515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史学争论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A0C25-D3B2-4461-B845-B5146850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谈判工具、阶级形成，还是地方行业斗争？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80D00F-5597-4083-A605-F01D8537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5773E6-8D8B-4895-B297-C27D12F8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A4C430-CBF8-4AAD-BD80-E5E6726C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78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霍布斯鲍姆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898581-9FA5-4836-B9BA-5F9E01C5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085975"/>
            <a:ext cx="898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“集体谈判”揭示毁机的工具性；可能压低共同体规范。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333728-E974-46A4-BD83-49D52E44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40F66F-0A1F-46D1-A95B-253278DF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78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汤普森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072B55-AAA5-4ABA-B336-2CBB7E70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771775"/>
            <a:ext cx="898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阶级在经验与斗争中形成；可能读出过于完整的全国故事。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186B7F-5F45-4EBD-87D3-9879680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42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98D805-3319-4BA9-9426-E8AAB4F0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78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托米斯等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0BFF49-8284-4376-9755-3555F88F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57575"/>
            <a:ext cx="898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行业、地区与目标差异是核心；也可能缩回行业纠纷。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E42E03-1650-4675-A597-0EA69DCD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C436DB-010E-4D6A-A456-B7A09AF0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78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兰德尔／纳维卡斯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8B95F0-1C18-4F90-9AD0-B4EE433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143375"/>
            <a:ext cx="8982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抗争连续体与神话组织行动；象征统一不等于实体统一。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2D5442-576C-47AB-8F4E-B51D0A65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96DC1D-2A1C-48DF-88BF-D2E9547A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212646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5C8AF-FF26-4A04-A41A-8FFE3276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140FF-8CF9-426E-9B7C-5FFCE686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DE9B7-407C-49E1-BB71-80666093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68985-5E75-45A8-A599-1760B4D1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040CF-1CAD-4164-830F-66F85055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248CE-ED3C-4059-9951-3A065FB2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933C5-1BF2-4F64-8DE1-C280503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597E5-E276-4BE0-8CE4-BA7DB0E4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29DC8-8632-47A8-98EA-0A9118D5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B2AE3-F905-4842-8D36-C7177A19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BE226-A33E-424D-96CC-1338C94D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8B6C9-8517-44EC-9FB5-3A93AF1B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DB9AE-C5A4-45A5-8091-BBBB961D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D29E3-E782-48E2-B2EA-BA5149F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13B3D-62AB-4EC2-AED3-085D7F2D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BB991-9B7A-499F-89D4-09F4588A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04B89-F6DA-4CB0-B2CD-00596558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0C3E1-192A-46B8-8760-7FEBC151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17EB7-8D5D-430C-AB36-8CCD8E44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37860-94CF-4A82-9DC8-6F39F996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9535D-9192-45F1-95C0-DB4F177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D1031-70AE-4127-A584-83C5A1E3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FDDAE-0D89-4E04-8B88-2860BF3A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C635B-D25B-4BA5-A62C-CD29C45F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BF1B2-F872-4223-AB15-2613D650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40620-83E5-4A2B-9C34-222E5ED8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2B5588-6120-427B-9842-6E715CCD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ABC38-8AA5-4C64-BD17-20B42654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76300"/>
            <a:ext cx="247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125" b="1">
                <a:solidFill>
                  <a:srgbClr val="22211D"/>
                </a:solidFill>
              </a:defRPr>
            </a:pPr>
            <a:r>
              <a:rPr sz="13125" b="1">
                <a:solidFill>
                  <a:srgbClr val="22211D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F9A74-9C97-4857-AC00-8AFAB75D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2E8"/>
                </a:solidFill>
              </a:defRPr>
            </a:pPr>
            <a:r>
              <a:rPr sz="4200" b="1">
                <a:solidFill>
                  <a:srgbClr val="F7F2E8"/>
                </a:solidFill>
              </a:rPr>
              <a:t>后来形式不只是替代毁机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04C0E-8D8B-4592-8E08-79C00B9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BF9F"/>
                </a:solidFill>
              </a:defRPr>
            </a:pPr>
            <a:r>
              <a:rPr sz="1875" b="0">
                <a:solidFill>
                  <a:srgbClr val="CDBF9F"/>
                </a:solidFill>
              </a:rPr>
              <a:t>它们分别解决持续、规模、战略、代表与国家入口，也制造新风险。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528F9-C0C3-4404-8D8E-87FB0A0C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5EC6E0-BEC9-4757-90C2-85E9CF01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生产档案 · 经线从织物转化为数据流</a:t>
            </a:r>
          </a:p>
        </p:txBody>
      </p:sp>
    </p:spTree>
    <p:extLst>
      <p:ext uri="{BB962C8B-B14F-4D97-AF65-F5344CB8AC3E}">
        <p14:creationId xmlns:p14="http://schemas.microsoft.com/office/powerpoint/2010/main" val="12803352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5FD4C3-F5FF-4EEE-AC03-32A3FBBE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10E3D-3DBA-459C-9E5E-0916ACB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A6468-636D-4E16-8890-7B89A86B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514F8-99F4-4C0B-B747-C68C37CC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8DA27-6F89-4AAF-AE9D-79D73332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63102-789F-46FF-AB13-FFE829EB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909AB-4281-48B2-BB8B-FDB5A973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81ADF-DB43-47B5-B94B-A20BBB94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967CD-3043-4890-B1F6-4EF3DB76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EADB4-FE8E-4536-A836-0C7D7D6F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D4C3D-294D-441D-85A9-103D57D2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BBF57-4753-408A-8FB6-8056E808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7E60A-5E66-4B83-B61E-881822AD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7554F-6EDB-43AA-A4A5-366FB053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6F318-B269-41D2-AA77-A398947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9FEC0-E800-46BC-8E6B-905316F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B989F-C5E7-4A5E-885B-5DFA990E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212DD-A8C1-4FAA-97E2-E78DA663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B6524-2949-41A1-8567-C7DC00C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B115C-3F7F-4A1A-B48F-61BFAD0E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B379C-CF98-416B-B211-C00A98A0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6DDA-CD97-4DDC-8C07-0136F55E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132C5-C3EE-4F36-B434-F3342A7D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50EA0-5233-481E-810E-17528CFC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CDD04-B10D-4940-86B9-813F4201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AB87C-3A0B-4803-A498-BFBA5814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F8EDD-87BD-4814-B92B-B2FC8FE2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502AF5-E419-4875-A103-C40E71BC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没有线性进化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E6D5A-8CE7-40DA-BC61-2BFFE35C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秘密结社、停工、请愿、群众平台与政党长期并存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DEA6D-C1D0-408F-97FF-A01FD1A2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1722C-FA2B-4957-9E6D-F605221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C77AB-5EDC-40F0-9329-C371C2D1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4BBB8F-C4DC-4F24-9018-A4071CE0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1810s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FCD590-4A95-486B-BEE9-5B0EBD1A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秘密网络与行业请愿。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C40C1D-3083-4CC7-8C2E-389473C9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04B679-7074-4909-8B76-21B3922B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613E3A-72E4-4B01-96BC-A99C2F84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A8530F-E14D-4C7D-A308-6C88689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1819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C17F29-F5F9-4B52-B554-5B02AED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Peterloo：群众集会与国家镇压。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5E63E6-F842-4356-BBB5-501B7DFD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32E4CF-DB80-45B5-BBA0-29334AC8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949369-3BDC-4144-B5EC-124F946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20B0A1-7FE4-4EC3-8E08-784703D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1820s–30s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97E949-2DBD-45A0-B350-D09B5D75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工会、停工与跨行业组织实验。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7E468F-5948-452F-842A-7BC02871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DF0681-88A9-400D-A4F9-4BD17F4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87B87D-F42B-4594-B724-9EE76553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30A7E8-866F-4194-9635-693E56C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1838–48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F1EEC8-C0CC-4140-9995-156EDC58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宪章运动：全国请愿、报刊与平台。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83D095-2433-4CBC-980B-88777F4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6F7778-0709-436D-9A9A-15780BE0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D13FFE-34FA-4F61-812A-811AAEA6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0A7B97-3011-44AD-BDFD-6DDF4C1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其后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410DF0-216E-4D9F-93AE-58E565CD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群众政党与先锋队争论。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27DD70-8316-42E1-BF93-43A9E520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A0002E-CA3B-4964-945C-7F532075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607985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00B913-4362-4397-83D3-D4D40AB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F4500-E784-4678-A3F9-8C28A2B1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54C68-1F63-425A-98C6-65A05FCA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C80DD-16C8-4551-8BC9-FA67A2F8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490CB-163C-48E9-900C-DF1BDCFD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B084C-2BF5-4E93-B7FE-93D8487E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D66BF-D4F8-41CA-BEDA-1025D159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A3D6A-4B56-44E8-9359-4843E71E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7A33D-5738-4B3A-8AAD-E7CE3CA3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13EAC-F822-405C-BCDB-9DFF14B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8B426-9343-4E3A-817C-09DDFFB9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F7F36-61CA-47D0-84D2-203DFF6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D831A-F37A-4FE5-B218-BDC3A515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9D15E-AAF3-4DD8-A9D6-835DED27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22E8C-F79E-49B6-B2E2-F6D082CE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84696-734C-4160-8DAD-D6A36BF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86D19-491D-48F7-B2EF-FCCD750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E33B3-14F8-4D36-B3C7-644D96CC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B6A04-D20D-45F9-A8E5-67B445D9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F0E4AC-3AFB-4A2D-BD02-A37BE50A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A697D-5065-45A3-9AEE-1FAF9372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30E84-9DEF-46D5-B0A9-856A5C30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6087B-C261-4507-9548-5A2912E6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6255F-40D4-46FE-B161-8220EC44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05939-96E0-487A-9B95-66D78245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9EC49-C1E3-4310-A019-8B920CE3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0086C-ED5D-4B45-B5C5-5C0FC1BC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E1884-910A-4FD4-9AC9-C8EDB9D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组织问题矩阵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45F63-7AA9-479C-96DF-C316192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每一种扩大力量的形式，也会制造新的代表关系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D47ED-EBE9-44CA-AC51-61A3ADEB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D4FCCE-AB31-49E1-8718-8A86404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D0DAC-6D87-450A-9AB7-2D9E79C5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秘密结社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C45317-84B2-4BDC-98CC-0F39145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8954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保密与行动｜风险：地区隔绝、财政与问责。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2B033B-6929-4A3A-9C2A-B02D17CF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168E9D-5082-4AB8-A649-95F64BA0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工会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75432-56AC-4B4C-B157-FB74E3F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812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保存经验与谈判｜风险：行业主义、排除、官僚化。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0A0DF-2549-45A7-B49C-D5332310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28C06F-E194-4939-8ADC-F448C49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群众罢工／委员会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5D524E-785C-441C-A084-EEC4073D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670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直接参与｜风险：难长期再生产。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6ACBA8-AEDF-422F-890E-E8F3983B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95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1CF8F8-C136-4DDE-8940-710BA39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群众政党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92BC78-00C2-49FF-AEFF-887A1A68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9528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全国聚合与国家入口｜风险：代表独立化。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CF8C52-579E-42A5-AAB4-6D386359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E390EB-A4A7-4071-B1B9-7EAAA0B8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先锋队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9826C0-760B-40B0-873A-513626B9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638675"/>
            <a:ext cx="860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连续性与战略集中｜风险：解释权垄断。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661879-394D-4011-8CDA-9AFC6F7B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113B69-398D-405C-9A7C-9BE3FB4B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9227112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1A8FFC-3DC4-42FB-B45D-97F2A87A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73905-73F1-4EC8-9FE8-20AFFA18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01C82-BB7E-405A-BA4B-D6F5F1E5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F2520-2472-4AE8-953A-6682F343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7AB6E-5D3E-48E4-90E2-849CFAEB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92307-725F-40C4-9919-A3F7AA4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37ADC-4DC6-41E2-8C22-0F45B179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9B790-083B-42AC-8FF6-7928FE22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47E2A-ABE1-47EA-A4AF-D1D5D709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DAE21-184D-4FF7-A8CA-39D80AF2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2AB7E-B462-4630-B0C7-A9A43DCF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8E9FC-6ED5-43BA-BE10-218E497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3AF0B-96C9-447E-9E8C-27246A6F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D0F25-C419-42AC-BE3C-E9C6B710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BA147-99B3-4D4E-9E13-2E18BC81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2B6A7-9C9B-46E7-8615-DD0CE34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C241D-320B-4431-A925-C5631BED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8A4C9-92C0-4035-B980-009D9AC3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B4E2C-FFD7-4EF5-8369-6168E2E5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5719C-8CB2-431E-B549-887F8E86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BC00D-CDF8-4AF2-98BF-680028AF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39700-4C9A-41EC-8C4D-300E87B0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72049-DD98-4C6D-BF6C-CF3E400D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D9BD0-DA2F-4462-836D-B0CC0A27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EDCA2-9C91-41B1-A66A-D4F38590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CF814-E0FC-47EF-BA60-A6785722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0D8EF-2333-499A-B482-099A5128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A0E6F6-E9F0-4991-B9C4-A38E4C68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难题一：地方知识怎样扩大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C878F2-D870-4D39-9546-7A981455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马克思—考茨基的张力不是“自发／组织”二选一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0FFB1-C4AE-4DD3-AB88-9AAFDF45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A6145F-3D72-452A-8687-BC1BB6D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26A1F5-85F0-4369-ABF4-5583F269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自我解放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FD960E-DE07-4374-AB25-F066C74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共同处境经过交往、斗争与组织才形成主体；组织不能代替工人行动。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EF7613-02B0-47F3-9676-728A287B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B6BDB5-0DBA-4AA0-BEA2-59EA699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规模与持续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141171-A578-4748-9737-6A5F94C3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会费、报刊、教育、纲领和政党让地方力量进入国家尺度；也可能重画谁是工人。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4CD156-3E8E-412E-B64B-B4704122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D0F98B-7217-4B61-A347-7F3B9C5A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7594836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6DFDE3-947D-4519-92E7-28621A00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BCBF0-F5F2-4DCA-9A8F-3AD222D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8FDAA-5625-4BBF-9FBB-D15B2214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2DFE8-2F17-4A4F-B32E-C6B7D02F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3D69B-172E-43D7-AC68-6789A020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88940-E547-4E0D-A98A-40027AC7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F369C-3E61-44BD-82E7-45380A9B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1A12C-8E41-4EB5-9FFE-6A238E26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BDE01-6386-402B-9498-ED318CED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5B910-295F-4811-A48A-B1549EC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5F3FA-3DA6-4209-98EA-66A9EE5A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E7BD5-5344-4BA5-B6FC-ABDC4AB9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1C984-72EE-4601-8999-2D16569F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B525B-8ECA-4295-A6DC-7072BE20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D4B8B-C6DF-4129-8E5D-89994A85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11F38-4E3A-4124-8A1F-91530C12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E7808-952E-4B32-9588-DDD8D9E4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30E19-7594-4C44-AFA4-0BFACCF0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D68D3-0FA9-42E8-A995-13E8AB17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FD822-64FA-4432-B92F-FD81919B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204EF-8215-4655-9913-85DC58C9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29049-1B7D-4D7A-B50C-DD1A6D5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82F15-E9D7-415F-A36F-979289BA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892D4-8F3E-4C1D-9377-11D8BC9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EFF8F-48D0-47EB-B395-42A1C02B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E3712-101E-41BE-81CD-3758B5AF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BC34C-C5A9-4E35-BD72-A332ED7D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2E3E0-3982-4B59-8FC6-D30939E9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难题二：秘密行动怎样获得授权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E224AC-4A83-41BB-90B7-FE295BFB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群众行动需要战略，但战略不能替代群众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42DA10-D65B-44DF-BBB0-B9083237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874759-7AE4-4240-9C77-C3A4D7EF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808291-3AE9-4F80-B12A-4180E5E8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群众罢工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6AA9A-9C4B-4C22-804F-BF6F41E2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经济与政治斗争相互转化；组织既是前提，也是结果。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D9D669-694D-4101-A61C-02EB42AC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D7D07A-C62E-4A08-9106-6AF0105E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战略组织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61228F-4893-4E1D-876C-F8522AFE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高压环境需要连续性、协调、保密与国家视野；也可能垄断正确解释。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10197C-CD4B-442A-9A36-B149FFAC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71DE01-10BB-4729-A602-2D7B5838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3D4DB5-B584-4C49-B207-A882322E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公开授权范围、批准程序、信息回流、否决与撤换。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232B35-2668-478C-B849-FA86CFB4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27D72F-015A-4433-A472-8A274E3D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997796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EEA172-559A-4C9F-81F4-C3754316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5C745-99BC-4F0B-B620-3B7870E9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4E517-F1E8-4C4C-9B57-AF716CBD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ACF3B-8546-4AAF-839E-7F48503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48896-F258-4EEA-90B2-19BE556F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0F3D2-1948-4333-9566-5C75C3B8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C7D1E-F90D-4461-8BF7-B8FEF9EF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EBC6D-CA30-4B54-8864-F9DF7A90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4DB2A-D141-41A6-A2A0-EE9848E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F1FF9-7970-449E-BE9E-DF4CFA90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15952-6393-477B-AD47-54AE3AB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8147E-53CD-41DB-BDF1-6066966C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7C320-9C3D-4213-802F-9C317C3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7467B-D271-4B28-8EBD-9D9D765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EE5BF-0D0A-4B60-9471-C39B5F89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BB60D-0696-4A01-B3BE-16CB89F9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24FE8-BC7D-402A-8167-EBD58900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D9BF8-2899-4108-AE5C-00ED0D15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C6950-B1D5-44F0-B595-3A8F1F9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F618E-90F6-400F-8671-91D74F98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57475-28EA-48C9-85AD-EDB3ED0B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37988-12F9-49D5-9ACF-A0E7DFE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362DD-20E9-4736-B5F8-551E0F8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70C25-1432-4786-8417-37C5827A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00FBE-6755-4BFD-8CA5-8E7B9B6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5B83BC-309F-466A-A254-70902BE7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0D84D-6B1F-4070-A493-BD1210D5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48EFEF-2E08-454A-8C7A-DA4C59AD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难题三：扰乱怎样保存为制度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F15776-E640-403D-ABA3-A8ADF6DE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夺取国家、改变所有权与劳动者控制生产不是一件事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B6FA04-8D5B-4F01-942F-71D034B7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8D13C-C746-4090-B49C-C99AF1C2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2FE284-6A44-4972-BB28-4826202C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夺取国家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C0F6EB-0570-4800-B7D7-17649FE4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谁掌握强制、法律与总体政治方向？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F15A43-57A1-47F0-92B9-3EA908A8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C5E5A1-4E29-44B6-8E57-BB963219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改变所有权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88B088-C22E-44A1-A55A-492B1C6E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国有化改变财产关系，却不自动规定劳动过程。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9C6CAC-4053-4999-AE82-0F8420F1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E2BA32-5541-488A-8C19-ABF2D822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劳动者控制生产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8FD1F9-8DF0-40D0-9401-7D55E388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工厂委员会权力不会因国有化自动保存。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B058BD-A600-4FDB-888E-40F5E4F6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824871-4002-48A7-BD7D-EF4C91E6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8482824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EBADCA-8EA7-4464-8F57-F07B8AC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AB617-5AA3-47DE-AC16-D1A89F32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9719F-D9F3-4A17-B674-6BCCA7F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896EC-23B6-456D-8365-51AD8B59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896AB-2284-48EE-9773-8616D61D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B0C78-CA6F-413F-A051-A3F68D3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40DD5-672A-46CD-93AF-418406C3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3887C-35D7-494F-9E5A-0D279C1D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A5917-9C19-471E-9FC7-9DCC5278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D513C-CEC9-4A00-B7F9-5E2A7C09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C2B5F-34EA-4879-A34B-3D0DFEF6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53C7E-1FAB-43A5-9149-2403B3AC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6C306-221E-411D-8EA9-EAD94A3F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54445-2B86-46FE-9B32-EEACF04F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2F35E-ACF2-48EC-B468-A138AA36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3CA04-F319-42BF-80C4-ECE3714E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B78A5-B08B-4983-AD5B-2D56E9D6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0B563-96FC-40B0-A4D5-7F72399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36E84-989A-464A-A992-B2F17630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A7F8C-7285-433D-9C67-F244C3B4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AEBEB-6154-4A20-9591-A981CFEA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A9483-D59D-421D-9CBA-0C4FE9AB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9A797-CE57-48BF-B309-295EA46F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BBB7D-193C-4CE2-B576-60D3619E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17849-2A9D-43C9-B288-F8A8D731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2AADF-5995-4E5F-970D-EA2FB4D6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38146-974D-4B7F-8E18-1CEA9711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B1279-F912-4A1C-BEA7-9098A7B1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难题四：工作场所怎样进入国家政治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70861-6B78-440F-ADE4-CFBE8B11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组织通过联盟、分类与代表制造阶级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6A8CE9-682E-45B6-B238-85789FB4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7FD00E-1921-4F89-9578-DA5418A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CF2E66-DC3D-44A3-8D8A-D395A906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分散劳动者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ED0D1C-6A19-419A-9C35-D5F47A20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行业、性别、技能、地区和身份并不天然统一。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72DCF6-8FC1-4927-ABD3-85387200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7EC4D2-7B1E-45B5-A321-3682107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名称与纲领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BA9215-0D19-4983-A798-1D816A18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使群体公共存在，也可能垄断共同利益的定义。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716831-5832-40EA-A5AE-B636E57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15AD65-29AE-46DD-A0F4-4C83C360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社会领导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28A687-8425-4ABD-8D97-B2E8835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文化连接制度与国家战略；战略必须受基层约束。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B204C8-0479-4F1C-850E-99C1D447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E256CC-521C-4E05-823D-D876EC4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983466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6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7B6319-14CD-4643-97AC-179CAFA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5DFE0-2EEB-484F-BB71-B9165BE1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5DCA0-37E6-4D96-B6D8-C04F69F3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2E906-13B9-4EBB-8561-060FE7BF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C9257-064C-4BD1-AD6A-EAD507AD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4A704-EA83-4222-9A8D-2FA3EF50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F7F9-BF54-49AB-B9E9-4DE4B3E9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C71C6-F7ED-4572-92D8-DD4C3656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EB94B-E290-424A-9F2E-27C329A9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4D812-2D9F-4A10-B381-19124FAB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8FB46-9FE4-438E-A707-A069A9F6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5F303-A685-4E70-94C0-F4B946AB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24A3F-9CAE-4003-A99D-D7C24480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72635-0A0E-402A-BEBC-13D7E67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A7280-BC48-4925-8E7B-52CC815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31164-92DB-46AF-92B8-0F99ECFC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5E39B-EDAB-49F6-93CE-44952383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D6B0A-A67F-41AF-BF76-40D13385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312DC-BF89-4E3F-81AA-653DD99C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5E8B8-C5FE-4046-A956-F08A6E5C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887D8-CEEA-4176-AEC4-014A4AD5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60937-1416-4036-94AF-CF20983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76E5A-4617-4FE0-BC7C-6EA81ED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E25A36-65D4-4BC9-896F-F9901E51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9035C-2673-44E4-AA49-79B9239E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4A663-317B-4585-A926-AD92853A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26A98-8814-49A1-B6D5-E94A772F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09C42-1D10-4E9F-980E-0C446DB3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群众政治的历史实验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2D6453-A423-4560-BFB1-39C2F39B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Peterloo 展示公共集会的规模，也展示国家如何回应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A4BD4-4A30-4EF7-9752-BBC7317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28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3defafe614ed0"/>
          <a:srcRect xmlns:a="http://schemas.openxmlformats.org/drawingml/2006/main" l="2082" t="0" r="20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95450"/>
            <a:ext cx="5753100" cy="40005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578048-635B-4705-A636-A649EB30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0F7CC6-9E95-4A27-8165-8C690CB3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304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解决了什么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CBCEDB-AF57-4CA3-B131-9534A332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228850"/>
            <a:ext cx="9458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把地方不满变成可见的群众政治与改革要求。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E16ECE-13B1-4A86-90C1-357B77B8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F33FDD-303A-49E6-B816-8A76F704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1304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产生什么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970E6B-35C9-4D5C-B029-B2D6BCCA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914650"/>
            <a:ext cx="9458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现场代表、报刊叙事与全国舆论成为新中介。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B4F79C-019E-47FA-B1CD-0815DFB9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938C50-8DE0-4759-8AC6-BE4D5EA5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304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没有解决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DEC8E8-C301-4E24-A318-F6A5BDF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600450"/>
            <a:ext cx="9458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国家强制仍能以秩序名义打断和平集会。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2F9327-F493-4B2D-A126-03071B31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000907-77C1-4B9C-B035-886064A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图：Peterloo Massacre，Richard Carlile（1819），公共领域。</a:t>
            </a:r>
          </a:p>
        </p:txBody>
      </p:sp>
    </p:spTree>
    <p:extLst>
      <p:ext uri="{BB962C8B-B14F-4D97-AF65-F5344CB8AC3E}">
        <p14:creationId xmlns:p14="http://schemas.microsoft.com/office/powerpoint/2010/main" val="12133624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715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1BF53B-826B-4C53-93BF-D9E94D13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5DA36-458C-44ED-AA2D-A3DD87C3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561CE-8AC5-4AE2-98A4-6E3C1279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6002A-B8D5-46BB-A6AE-03537A2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DD9BB-ABF3-481F-A2CA-BE88D88D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A8470-D122-409F-A78D-B79E847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95A76-B125-4FBB-80CE-495621E8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2DF44-E3DF-47F7-A9EA-8080E6C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67F25-9BCD-4833-9198-21FC6D7F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8A694-784A-4428-9A2A-8E515121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4A8B5-793D-4E9F-9E52-58E8E05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3DF37-79DF-46DF-A662-D5CBB9C8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3BA47-40FF-4A70-99AE-04EA59D0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DC5D8-6D18-4F9E-987A-B40FCCC9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CDD97-1C31-4E07-A2B3-11BAA4FF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868D2-FE53-44EB-965F-13ADD353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32A4F-FEEC-4942-A00E-69E46B1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01E51-3D16-454C-BB34-A606666D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E3A68-2DC9-4281-92DF-45525FA7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B6495-AC69-4EE8-AB58-25BF9697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362CC-34CF-488A-8E41-883B5D23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2443C-3B3D-46F5-A03A-F93C8D60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BFA65-653F-4C81-9F14-D9E6DAC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0D708-81D8-46A6-BF40-76BFF3AF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D5B3A-C0E1-4B29-830D-F01C0CEE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2AF70C-5324-451B-9122-327D5441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992F2-740A-4F0A-A0B7-F2A55A75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E8B69-D41F-4492-8423-FAA36911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群众请愿与全国平台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E63EE-4AF9-43A0-B65A-5502B334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宪章运动把请愿、报刊、地方协会与集会连接起来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43EA6-C14C-4306-930E-2521572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29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c99b1c07b43cc"/>
          <a:srcRect xmlns:a="http://schemas.openxmlformats.org/drawingml/2006/main" l="0" t="1659" r="0" b="1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714500"/>
            <a:ext cx="5753100" cy="39814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2231C-ECA7-43D1-BB67-8BAA46CD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1603EC-0279-4DF8-8CFB-A7076587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304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948A89-6C2E-4E45-8161-B32D814B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228850"/>
            <a:ext cx="9458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全国纲领、政治教育、重复动员与国家入口。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F42339-34A5-478D-A8F8-62229D5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125DB3-C1E0-4712-BC33-8684087A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1304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张力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3541E3-8319-4CC1-808E-91A4DFA6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914650"/>
            <a:ext cx="9458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签名、代表与讲坛让群众可见，也可能压缩地方差异。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C664DC-AE62-4D8A-B013-50087F66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FD3398-A3C8-4B20-8361-1D8F6D7B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304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3AA47"/>
                </a:solidFill>
              </a:defRPr>
            </a:pPr>
            <a:r>
              <a:rPr sz="1500" b="1">
                <a:solidFill>
                  <a:srgbClr val="D3AA47"/>
                </a:solidFill>
              </a:rPr>
              <a:t>遗产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DF9ECF-864F-42D6-BEEE-79D8807A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600450"/>
            <a:ext cx="94583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F9F"/>
                </a:solidFill>
              </a:defRPr>
            </a:pPr>
            <a:r>
              <a:rPr sz="1425" b="0">
                <a:solidFill>
                  <a:srgbClr val="CDBF9F"/>
                </a:solidFill>
              </a:rPr>
              <a:t>失败不等于无效；组织技术进入后来的工会与政党。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28731A-0437-4D78-9622-6034C6FA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941835-D94A-45FB-AE51-B011C9D5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图：Chartist Meeting, Kennington Common（1848），公共领域。</a:t>
            </a:r>
          </a:p>
        </p:txBody>
      </p:sp>
    </p:spTree>
    <p:extLst>
      <p:ext uri="{BB962C8B-B14F-4D97-AF65-F5344CB8AC3E}">
        <p14:creationId xmlns:p14="http://schemas.microsoft.com/office/powerpoint/2010/main" val="12914012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C86548-67CC-44DD-8370-6F424629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14EEF-A5E8-40BA-846D-6538FA19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87316-FE0D-43D0-AEFA-F5B65ECD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04D1D-E001-4B9C-B22A-221EC8D9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2E2C7-BB0B-4032-886F-FDAB4B1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3A115-38CA-42CF-B8FD-BFB05EF3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D4124-DED7-40E1-87B8-98DC4989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2FD88-49A4-42D5-97A8-12DE2E4A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81C98-2F75-4678-A613-25D89DF5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C28C2-84A3-4B23-89DE-BC8123D6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555A8-E947-45AF-B4F7-2D1389C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2F75E-ACD0-4526-9CBA-678D31AF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D918A-7117-4191-9E9F-7B0B89F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79E62-0E54-4DA6-9C7B-A5E1D32C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9434A-8B5E-41E1-A5B9-820021F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DD4E5-0FEF-4187-A2B7-DA401461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EC209-ACB0-409A-9424-7A86BF33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95788-6DA1-42B4-9DF6-7B6A7B08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9828E-03E4-44D9-846D-185CB54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D8436-ABD7-4D54-A5E9-E5EED12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79965-9806-4CF2-A63E-AAADA48B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DB848-C6A5-41EC-8F7A-D66D3BFE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74581-BB57-4A74-9821-86063076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1D09C-86D9-4FF7-A6D7-9B9147EE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EB110-24C7-4CB3-A354-13526E96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71B9B-6BF5-46A3-9433-EE4501C7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0BDEC3-51D6-431A-9874-A862FC5A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370B7C-02FA-49C1-B396-3CEC750A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政党与先锋队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FFF5F-DE7D-484F-8FB1-C36B5B2E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连续性和战略集中是真问题；替代群众也是真风险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3F750-46A1-4B1E-9DD2-1AB6F813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5A6EDC-1BFF-4B1B-851B-8E34F1AE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56ABCE-5F97-4F7C-B256-2B7DCEF6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群众政党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607CB0-600C-477E-B5EA-1AD07E53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全国聚合、教育、联盟与国家入口。</a:t>
            </a:r>
          </a:p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风险：选票逻辑、职业代表与基层被动化。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D281E-F7B1-4739-9573-40354CE7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A7AA1-0F7F-40FA-A506-E28E43A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先锋队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30CCDA-9286-449A-826E-814205A2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镇压下的连续性、保密、集中资源与国家视野。</a:t>
            </a:r>
          </a:p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风险：解释权垄断、党替代群众机构。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EC3D38-34FF-488D-899B-0CB1A660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3A5C2D-23B3-4D21-990F-8F4F571E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0220844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1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28B686-E3AC-4EDF-A723-CA6BDDE6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B7038-10DF-441B-8D3F-A82C6F8A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6F079-D0C1-404D-83E3-3FF69D8E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C3A72-15D3-42C0-80EC-6ACD0338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57BBA-1196-4072-A8E1-5B233D3A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A53B1-5490-42A4-8B4D-F27A13C1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A98A1-AEF7-4A40-820D-5ACA9A96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BA321-D19B-4789-B95F-9FACD86C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1BF7B-5230-4640-8D6C-99CF2454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8F6CF-6C50-45B3-AA7E-50F67B59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2CD21-6957-4295-B38F-5D204063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97661-34FD-4A45-8961-03A06CBC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64497-E79C-4F4C-8BBF-72BDEEFD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AFBE9-6A67-45B2-B3C5-7F7E4640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653EB-4A19-44D1-A9C8-7949D5DB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142F0-A1F9-4C73-BA23-0860DEA1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7539D-C8FA-4C96-A97F-E7E5568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B4A72-F218-4E88-AA21-0BF337F4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5D9C0-3260-4827-81D8-4EFDF971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967DA-1CF8-4D6C-94FC-83FA8268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459AE-CB70-425D-83C6-AA14C0E8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E0D82-B535-49A2-8A6D-4953162D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A4E93C-5472-4463-B32A-5B2903E7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E2745-10EF-4F62-B997-1045BB11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2A3C2-FF57-48DC-A207-DC70D777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71A87-43AE-4F8F-9055-E450D215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8CE98-2D75-4B81-80F7-CD2985C5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45EF37-7E66-4799-A331-0D0AD67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组织的悖论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A1168-5A20-45E8-A41B-EBF94DEF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问题不是“要不要组织”，而是力量怎样扩大且仍可被纠正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58971E-F0DC-4233-89D5-483E3002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B6AED-0446-4D68-B472-E8B95752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047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2E8"/>
                </a:solidFill>
              </a:defRPr>
            </a:pPr>
            <a:r>
              <a:rPr sz="3000" b="1">
                <a:solidFill>
                  <a:srgbClr val="F7F2E8"/>
                </a:solidFill>
              </a:rPr>
              <a:t>没有组织，地方抵抗容易被隔离。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3000" b="1">
                <a:solidFill>
                  <a:srgbClr val="F7F2E8"/>
                </a:solidFill>
              </a:defRPr>
            </a:pPr>
            <a:r>
              <a:rPr sz="3000" b="1">
                <a:solidFill>
                  <a:srgbClr val="F7F2E8"/>
                </a:solidFill>
              </a:rPr>
              <a:t>没有群众问责，组织可能从形成阶级</a:t>
            </a:r>
          </a:p>
          <a:p xmlns:a="http://schemas.openxmlformats.org/drawingml/2006/main">
            <a:pPr algn="l">
              <a:defRPr sz="3000" b="1">
                <a:solidFill>
                  <a:srgbClr val="F7F2E8"/>
                </a:solidFill>
              </a:defRPr>
            </a:pPr>
            <a:r>
              <a:rPr sz="3000" b="1">
                <a:solidFill>
                  <a:srgbClr val="F7F2E8"/>
                </a:solidFill>
              </a:rPr>
              <a:t>滑向替代阶级。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3C0431-FEEA-48ED-B772-54B1EBF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B342BA-8B55-434A-956F-26688401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5055D7-77FE-4703-A140-C0D0729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把问责写进组织结构，而不是留作善意承诺。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B88256-2868-4127-86FD-03C4FC3E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D3E820-3149-4F61-B73A-D5FA68DF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从历史实验进入当代技术冲突。</a:t>
            </a:r>
          </a:p>
        </p:txBody>
      </p:sp>
    </p:spTree>
    <p:extLst>
      <p:ext uri="{BB962C8B-B14F-4D97-AF65-F5344CB8AC3E}">
        <p14:creationId xmlns:p14="http://schemas.microsoft.com/office/powerpoint/2010/main" val="14570883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7CC6E0-13B1-4A17-9EB1-990AC08C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2E608-BF77-4005-92DD-C9183F4A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13645-77B8-4CB7-BD07-B071EFB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E2694-BCAC-4C30-8224-4CF4EB3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2FD57-9E52-4514-9D74-B47DD65E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9F175-D74A-4762-B3B3-66BFD94C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74ADE-2A8B-48D0-8D88-42536696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B1F18-FDC0-4E9D-ABB8-BB9E5AE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C84E6-8E96-4238-95DD-5DE32719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54BB-3426-4D7F-A5D6-06310F0A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75CF9-63A2-4263-8910-B7E5B64D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B9CD1-7359-4C1D-B366-8DFBBA6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481F8-78AD-4C4B-8D5C-FCB0C606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337C2-D3D1-414F-85F4-091E745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B1B1C-B5DB-497E-B441-EDEE70B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726E5-BD16-4A31-BE52-B333EDA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417DF-1662-40D7-A19B-3384D505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ED286-0FE3-4BD2-8CD6-93E3C8BC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A6A23-F166-4AA5-A9AE-186C9852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531D0-5444-414A-8204-99F69B8A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5BED3-3350-4464-9715-1EEAA094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F119D-4A50-4480-B6C7-E47ACF88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BB513-51B3-455F-B72A-B7EC65A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13CF6-95FE-41A6-A29E-C1C7E4A0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86859-2811-46D1-B818-62C6CD1E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F425C-3AB6-4E37-861F-944E33E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BD2B79-7A2B-4685-83A1-80943F69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439EE-6885-4D17-8D3F-DB7381A8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876300"/>
            <a:ext cx="2476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125" b="1">
                <a:solidFill>
                  <a:srgbClr val="102630"/>
                </a:solidFill>
              </a:defRPr>
            </a:pPr>
            <a:r>
              <a:rPr sz="13125" b="1">
                <a:solidFill>
                  <a:srgbClr val="102630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68155-FAEB-4BCE-813B-DF16A642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2E8"/>
                </a:solidFill>
              </a:defRPr>
            </a:pPr>
            <a:r>
              <a:rPr sz="4200" b="1">
                <a:solidFill>
                  <a:srgbClr val="F7F2E8"/>
                </a:solidFill>
              </a:rPr>
              <a:t>回到 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3E82CA-B5DD-43C8-8928-FD96D2C1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9D4DD"/>
                </a:solidFill>
              </a:defRPr>
            </a:pPr>
            <a:r>
              <a:rPr sz="1875" b="0">
                <a:solidFill>
                  <a:srgbClr val="B9D4DD"/>
                </a:solidFill>
              </a:rPr>
              <a:t>AI 不是卢德机器的重演；它是一条跨越数据、算力、劳动过程与国家的制度链。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45AD15-0BE4-4FA6-8289-11BCBFF3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F87B5-AABC-441D-9089-49FEC53C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生产档案 · 经线从织物转化为数据流</a:t>
            </a:r>
          </a:p>
        </p:txBody>
      </p:sp>
    </p:spTree>
    <p:extLst>
      <p:ext uri="{BB962C8B-B14F-4D97-AF65-F5344CB8AC3E}">
        <p14:creationId xmlns:p14="http://schemas.microsoft.com/office/powerpoint/2010/main" val="112030369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9DB822-C16A-4B30-A274-0E4270D8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1AA44-E90F-40EE-A54E-45026A4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B3F88-0131-4E81-AB7E-735D49C0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F4F9F-C3E4-43C3-A4AE-329394A8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52517-065C-4CF4-BD56-A6034789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09D32-C1D2-408C-BB39-3F6285ED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A421B-B497-41E6-B0B9-14285512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5D258-5120-44C9-94C3-579CFD5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75615-DBA2-4259-B681-EE24BAC1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24902-F0BC-4374-A6CB-1C2AF0B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8945D-6E81-4F06-B825-F7D3E502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1B752-1BBD-4016-81E4-D3548650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F3E6F-63EC-4121-8517-22571059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3F1AF-6339-46E2-8CD2-D048CBFD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B077A-33A3-48DF-89F1-AF622CC7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3D7BE-B759-47C8-B87A-79B7BC3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2A676-2783-4A0B-BDB5-3422CB5D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C5613-2C72-4ABB-AC64-0B3C34FA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464D0-CFEC-4EBB-A17E-2F7206E3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82717-DBB8-4725-9FCB-ACBB043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600E1-75F8-428E-BF99-2B5C79B4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6B0A8-5064-49C8-911C-0193F3E6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6834F-1270-49E3-B216-82C6DD22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D31C6-478C-4EFA-B049-F30C65B0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19CFA-1A45-491F-AB2D-5E0C48B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24FBA-4227-487B-8D86-2B43D5BD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A2C11E-9A9B-4FA1-9310-3303EC3C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4E50B0-CAB9-475F-877D-782BE019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AI 不是一台机器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2DD051-953C-4812-9285-77EA85F8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先把“AI”拆成一条劳动链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6763C-B05A-457C-A7E9-46090977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0BEF54-E5F6-4050-9412-041EAAEE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657D9-8AAB-476C-BB2B-71706270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7E81EE-D5D4-4CCE-8233-9919E3B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算力能源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C9F855-7FFC-49AD-BCD1-371264EC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芯片、数据中心与基础设施。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BAC990-6536-4B65-98F7-9CC07F97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F5BF51-D8B0-4718-A8F7-D982EEC0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884B4D-AEE9-451B-BEA2-C19CCF17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22BA35-350F-42DE-824B-20C2434D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数据作品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F9451E-7C51-4E43-BB0B-1ACB4F97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授权、公共信息与行为数据。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8B1CB0-F22C-4435-98F0-9C5E0C6C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6D996-AEE3-4EDA-8381-8D43F213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66D2A7-5EE3-455A-A5AD-977E4268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051484-9FD6-41BE-882A-A9E1FB83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研究与隐形劳动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619993-20DC-451F-95AC-926F7E00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模型人员、标注、审核、外包。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0653A6-E84B-446E-95C5-4433FD34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3939C5-AD4F-4919-AA0B-60E7C25B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A3C967-D703-4C00-BC9D-E700F65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F7379F-F12D-48CD-8FF7-E1D22E8E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部署管理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073A00-EF3D-461A-B46D-B0238E84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任务、定额、裁员、评价、责任。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7F1873-EB95-4314-AE9C-2D9D0CCA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285750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5DA5CF-4CD8-485B-A74C-7009AADB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14312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570CF2-253A-45B7-AE6D-119FBB73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49555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8C93DD-831D-4A57-A5BA-B9B8C6C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67652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国家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2B9570-5746-44D9-AEEB-6CFCAF86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326707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采购、劳动法、知识产权与产业政策。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E4E4F8-690C-4AF6-BEB6-70E4CE95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3AACA6-5FA4-4036-A7C7-01FB94F7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9609742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1C01CA-12F0-445C-A700-57FECED1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302CE-0204-420F-99DD-74ED4821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590CE-DF51-48E0-88AF-866F567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AFFE1-5BDA-4543-A951-070FDBA3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4D92D-6BBF-4DF9-9543-D325A27C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5DB9A-3790-49DC-893C-12B32BFC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7D5F8-5E8C-493E-8074-93793EB8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E12AB-FA61-4378-A4E1-E7C8B37F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99475-57B8-4963-8F3B-3C35307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892D7-75AB-4EF4-AB05-E72E322C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F11D2-2E09-4254-8EF8-2E5906A9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AA9B4-03EB-4D47-A220-67FAACA4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38890-BD34-4F59-89CF-46867D53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00743-8F1C-4E8E-A7E5-EE728BDD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432AE-A93E-444F-9477-454EC7E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46E95-C587-4AC1-9291-C1358362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D5366-FBC0-4A37-BB15-16B605C3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0CF71-189C-425D-82EF-F04BCA1C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2F90D-ABFF-4485-AD17-58D308DF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7CFC4-98FA-45A2-A685-86AD6B6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EDEDF-8591-4B9F-BBF5-A3005DF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DB961-6593-4B1E-A1C3-D4A018C1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C813F-1FBC-4BD7-AAF6-E88D835C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4BB72-9C5D-4C8E-8FA0-04310922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3FD14-2439-44A7-9E02-43B6116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F280D3-6A1B-4C5F-9E02-8B5D4E2D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3A41CC-6636-420D-A151-A9ED872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A5C14-85BE-43B4-B840-7E734ECE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四个行动尺度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308848-78F5-4F42-9295-1C3F58F0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个人拒用、员工拒绝、集体谈判与国家政策不是替代选项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32A40-00EA-4D86-A3E7-2AC3815E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34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a336905f84f87"/>
          <a:srcRect xmlns:a="http://schemas.openxmlformats.org/drawingml/2006/main" l="12492" t="0" r="12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1875" y="1762125"/>
            <a:ext cx="4181475" cy="37147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2B1EF6-B5E2-4860-9152-6A22B75A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FDD881-7F58-4FAE-844F-6974050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工作场所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E9921B-234E-4339-96AB-821B5996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383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部署、考核、裁员、强度｜协商、谈判、暂停。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57825A-47B6-41F2-9E21-CDC6279D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759EE4-BEC8-4C27-AF1F-185EE6F3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行业／职业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56D4F7-B9EF-4D40-97F4-1C810D79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575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标准、署名、责任、作品｜行业协议与专业组织。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C93594-0434-4971-A53A-9BD7BDD0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2B7289-7115-45CE-8DD9-BE045713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社会联盟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CB16E-EB73-49DD-A3E8-C3159087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766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公共服务、歧视、信息秩序｜用户与跨群体联盟。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CD3198-9289-4B84-987D-A382981C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738332-4A87-4C93-AAD9-FB4A100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国家／跨国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7B0D57-41DE-497E-8B13-5691EF64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958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劳动法、采购、福利、产业政策｜立法与监管。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A73937-5152-4B5F-B0C7-E6A8107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D4B81C-C08E-4E2B-852C-DA07E0FF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图：现代软件劳动场景，开放图库素材。</a:t>
            </a:r>
          </a:p>
        </p:txBody>
      </p:sp>
    </p:spTree>
    <p:extLst>
      <p:ext uri="{BB962C8B-B14F-4D97-AF65-F5344CB8AC3E}">
        <p14:creationId xmlns:p14="http://schemas.microsoft.com/office/powerpoint/2010/main" val="9216732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FC1881-2569-49E2-8786-2F31EC0A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49F90-1410-4CD9-81E3-D4310580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9C92A-6E57-479A-A625-B3928995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358E4-7833-44CC-8A5E-95607148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CFD0A-1CC7-487D-9A2D-330C81B3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9A59E-E375-4564-A6F1-AD2B6D3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D0E0D-EB8B-4BB3-B723-C740AC4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CE50B-31E4-412B-9A07-F81DBB06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9CCD2-56B2-4B56-AFC5-83A74C5A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191DF-27D9-414C-84FE-9CE3AA84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0385F-905A-47FA-BE54-3A966E95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64262-7094-455D-BA8B-2105E914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EB6C1-C29E-4CF2-80C1-B114DF3D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00D8F-272C-4201-8689-522FC26D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B474B-0BCC-4A56-B876-7AFAE05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9BBF1-2526-4E0C-874E-A0B317E2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DFD95-93E9-45D9-85BE-F138311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D0986-7B38-4DDF-BF8A-D419EC3F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72ECD-662D-4916-8942-8156E816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F350C-7B6E-4F40-B25C-4FA315FB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A7972-965E-41F7-9006-06CE2D5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089F7-2647-49EB-91B9-34A8D763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15567-5D06-4422-AB00-3B3B9F7F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31179-C259-4501-A70E-87C4AB8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822FF-84BC-40F7-9845-4632153A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BA68A-8452-4A80-8983-4B683BE0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AA6D54-614B-460E-90A5-1F9A3044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923BE-B0F3-43F8-A4C5-98E2A61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四个权力问题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DDFB7-2309-4F4C-BA3D-34BF2CD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比“支持／反对 AI”更具体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9EA955-0CD0-4B27-9A5B-711B12B3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8BD33-785C-4616-B5F6-ADC4395B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F422AD-31F6-41F8-BE54-EDA58842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谁知情并能叫停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1BEA71-D5C5-4862-A295-8C52169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部署前能否取得信息、协商并拒绝危险用途？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88E588-DF5F-466A-B41A-DE7B749D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E57E5A-940A-40BD-B19D-DDD3AC0A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谁承担成本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13271-9095-431D-A01F-166BF5B1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收益变成缩短工时，还是裁员与劳动强化？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54D6C2-33FB-4DA8-BED4-EA46D764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33000A-A9E2-4923-8B31-FC7CEBD5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谁能跨职业协调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55E2B9-5A71-43AE-A8AF-956E6BBE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高技能拒绝怎样连接外包、辅助劳动与公共用户？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F23180-1D7F-4EB6-9A13-D4C4F9D5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672C33-F5CA-4451-B9F3-AFA93D1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谁决定长期方向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8C8C5-17A0-4425-A4F6-45AEAD3E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要求能否进入劳动法、采购、福利与产业政策？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904564-4C9E-4D8C-BD5E-CC51269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3427E1-D5FA-495D-B533-AE40650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637748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BEE58E-4A97-48D2-ADE4-55A93498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562A0-890D-4B56-9100-52F5E2EC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29B39-9789-4B9E-9341-5AC10AC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1F4A5-6F50-41CC-8D1A-B15B358F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DDF06-DCAA-443A-8614-9B9E0FA3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99B75-280D-4870-8416-E9B1B701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5A0CC-E349-40AE-B838-1C5C0BF9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F9825-EDA2-4160-8D20-9681E4A0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0CD5C-F83C-4378-B3BC-B887A95B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82DE9-216D-44D6-B2F3-592970C6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CE11E-CB6F-4840-B789-3FCACD0D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986C8-4B56-4562-A177-640AFEE3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7BAFE-5BC2-4310-98F4-7EB88E73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1DAF-C83C-47AB-863A-72896957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AA3CF-E3E1-4095-9E62-7A62AFC4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A70CC-514A-4605-B46B-15FE8EC7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5809D-BC15-4994-9EDD-AD8CE0F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ABBC8-2B21-4340-8271-8F1D023E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10285-703E-46AA-8C67-B197FC7C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A8D11-3E5D-492B-AE23-C1F59009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9689C-9CE8-46A4-909F-5A12CA1D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119B2-3AAE-40C9-80F0-D8B6DF29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F8A09-702B-4BEB-8DBA-545776EF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83F18-6464-4554-B6E3-6DDC0CCA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95A8F-4ADE-4B4F-92B2-761BEBC6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0FE5A4-4B25-41FD-9F0A-3F7DD7C4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DBE07-9D5D-41D3-9773-C9751FEC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D52B5A-47F7-490C-AB5F-27FE1554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从一次普通部署冲突开始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30805D-E941-4516-BD03-97659619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系统明天上线：先把“效率承诺”拆成劳动变化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020A0-8D62-463D-AC2C-34BDEEAB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36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b21da3e6b4bd6"/>
          <a:srcRect xmlns:a="http://schemas.openxmlformats.org/drawingml/2006/main" l="0" t="25919" r="0" b="25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952625"/>
            <a:ext cx="4095750" cy="357187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9404BF-01A9-4783-8161-679AAAF2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604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机构宣布用生成式 AI 制作初稿、分配任务、评价绩效，并据此调整人员。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6D7968-E34E-412A-BE50-C5194219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7180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5808A8-FEBF-4788-91EB-CCA40AD4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6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B38159-A8F4-4555-9308-B1C82751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怎样收集、训练、留存与外供？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471D6-C8EA-4DAC-B8EF-3CB78DCD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02091A-C10C-4AE0-AA6F-91CDBAF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338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责任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9A4CDD-776A-42D3-B0BE-A76937E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错误、合规与申诉由谁承担？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60D733-F973-4F17-8DDF-7D044157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C166A6-05FA-4751-AE52-AEA2402F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5297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岗位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887452-0003-42FC-B62F-1AC200B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4345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减少任务，还是增加校对与隐形劳动？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D69B24-F21A-4D46-AF5E-18885C23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29250"/>
            <a:ext cx="632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FE8F44-52D4-47D4-B584-515B550C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72125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D3AA47"/>
                </a:solidFill>
              </a:defRPr>
            </a:pPr>
            <a:r>
              <a:rPr sz="1388" b="1">
                <a:solidFill>
                  <a:srgbClr val="D3AA47"/>
                </a:solidFill>
              </a:rPr>
              <a:t>时间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8A1E5A-180D-460D-A5C4-56CE3887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6260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CDBF9F"/>
                </a:solidFill>
              </a:defRPr>
            </a:pPr>
            <a:r>
              <a:rPr sz="1313" b="0">
                <a:solidFill>
                  <a:srgbClr val="CDBF9F"/>
                </a:solidFill>
              </a:rPr>
              <a:t>节省时间归劳动者，还是变成新定额？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BFF41A-682E-4CE0-ADAB-022846F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A60F63-6B86-4DF7-8281-99E7D37F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此时“支持／反对 AI”还不能形成共同要求。</a:t>
            </a:r>
          </a:p>
        </p:txBody>
      </p:sp>
    </p:spTree>
    <p:extLst>
      <p:ext uri="{BB962C8B-B14F-4D97-AF65-F5344CB8AC3E}">
        <p14:creationId xmlns:p14="http://schemas.microsoft.com/office/powerpoint/2010/main" val="175804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70D98E-6A22-4484-855D-C116259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9C698-51DE-43BE-AABD-BDAD42A4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56BAF-5908-4687-8279-64CCE1C3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C78A3-7EAE-4069-8477-31B483E2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B7DB7-83DD-4B1D-9042-1953657E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53E25-5A33-46BD-8FFB-FE5DB0D0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57900-536E-421F-AC61-21D5C698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C3373-0669-4368-9AF2-998A7272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FCA33-52E5-47B1-A094-4350858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116FE-6176-49B5-A49E-A5F23B6D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2136E-2EFE-499E-AC04-63F0D725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6C792-4BAB-45FC-AE61-582650C2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708A5-CA10-4327-9542-6158873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544DB-2E6C-4258-9A13-27B9F72E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FB69C-713B-498C-9AED-A5CCC581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D9128-C28E-4C6E-93B7-FCBE8CB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39645-75D3-4E7B-95AA-3AF3654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A29B8-B343-4E41-9968-E66D8A08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2804A-30A2-46C3-BD5C-943F5671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C07CB-18A4-4B94-802C-0BE85BE0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DC479-7C0C-4DE3-9B9B-406D4C40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37A25-BC1C-44C5-A887-54A775C3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E55CB-0348-42BB-958E-77A81F3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47DD7-A866-451F-A516-F936926C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6060F-215B-4674-9629-CFA68CDE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A49ED-42D0-41E6-AE1F-1EF14404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0E208-1459-4D10-85AE-C37AB77D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A6216-002B-48F6-AF83-1545AA55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行动阶梯 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60776-C04B-4936-8803-B201E15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调查劳动过程：形成一张劳动影响图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5739D-0038-459E-A7FC-75693FC7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E695C-4556-41FF-AB62-D62EA087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51E2BD-EF45-4606-B5FF-3F672EEC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任务变化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B85D9-7C67-4E26-BD80-6EC5F9F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哪些步骤自动化，哪些只是转移给人校对？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A4E0F7-9E4F-4C1D-B46E-5832C758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2133B7-6FCB-4701-A82D-6953003D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数据与知识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ED0D0E-7FCC-4E46-8C6F-A8510B86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谁提供训练材料、经验与隐性知识？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1B4DF0-2673-4F74-9786-81175FB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C343FB-2DA9-4A50-98DF-E57F47E5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风险承担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8EC0AB-617A-45D2-817F-082F35E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错误、合规、情绪劳动和岗位风险落到谁？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A4CBB3-7217-484D-A2AF-7EF9040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33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B9BDDF-A642-4EE4-A94E-6B2D114E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45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决定节点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0C5537-E3CD-4688-A3E8-F9AE5308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19425"/>
            <a:ext cx="24574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谁批准、谁复核，哪里可以暂停部署？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3E2F8A-2D78-466A-AA0A-02142337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9B4AF9-BDBF-4BCB-B892-EA4C0614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E63889-D2D5-4680-967F-01070FCA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产出一：任务、决定者、数据、受影响人群、风险与可暂停节点。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AF6F17-096A-42C6-A929-6804D85A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BA7F8C-2E13-4A01-A86F-5B04DF56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33950042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F4ABEA-FB8D-4874-B0B1-0BB0AB8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CF0B5-FBA5-4F12-8BE1-03746DED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D57A6-870F-4208-832E-E3E52FC2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E25E8-C0D2-42F1-8FB9-3A875874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E56A4-E68D-43E3-B627-BF1705B4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CB1CE-B30A-49AD-83B7-D4CD02B8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06BDB-0655-4FD5-A383-4993A37D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927EF-2857-4378-AA38-E4E05E6D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8DAD5-37A8-4A97-B1E0-2FE4406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5A680-0B24-4961-B0A4-6ADC1239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67996-055D-42B3-BA49-215E126B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B2D51-8538-4BFB-8729-DDF6F7B6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8F154-832F-4CC9-9BD3-66A3B94C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409D1-2602-43C0-BC79-6428DD8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7F493-1F3B-4F25-83CA-35C150A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DAA54-6F08-4CC4-8CBE-DCABADD4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3114F-1013-4882-B2F8-334C3B7F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B5B55-E7A0-4F21-A8DD-D1D91E92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52C36-88DE-4631-8FB5-2C1CA755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8A376-8D65-49CC-8603-1D673422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A5642-D88F-4B1E-A475-2A60D9F5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F79CE-C5C5-468F-9223-A6C0977E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5700A-8FF7-4F7E-A087-05DDF55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38421-A096-421E-B4F5-4C972740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14DD1-784A-4BDE-AC1B-1B1EF91C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401AD-D9D8-4575-A053-03BD298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57C0B-231D-44FC-92A8-14F9071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06F68-DDB5-42D2-A924-94776E8F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行动阶梯 02—03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42EE85-92C4-4FA8-8AC4-5D3250D1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共同要求必须和现实杠杆一起形成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96EB1A-945F-44F5-878E-4868B1F0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73B3BB-F028-486D-A1A0-510991D5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E91B3F-D120-45C9-9277-C23B016B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最低共同要求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1986FB-AC61-4FF3-9B87-8B83084C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部署前披露与协商；不得仅凭系统处分或裁员；人工复核与申诉；收益进入工资、工时、培训谈判。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C2CDC6-B28A-4CF3-AFEA-F277F1B7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7F1CAF-9DF7-4678-AFE0-FCEE3ACE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杠杆清单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880533-0581-4FEE-AB95-AA7127EC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5257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数据与材料、专业签字、校对责任、流程接入、用户信任、公共声誉；写明风险与升级条件。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8B1A4C-8A65-4E3A-809D-DE4474DE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41BC28-E060-44CA-8C82-4AA48178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63AE60-9572-49DD-814F-A709068D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产出二：最低共同要求　｜　产出三：杠杆清单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6C980F-74A4-4F8D-93A9-30FC23E9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C6BE9-43AD-47F5-A989-196A2C7B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25149287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B94A20-593A-4087-9E33-F93C8680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99A5D-17BB-40FB-BF3F-1C0BB53B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BAC9E-769D-465B-BE30-05A1F98C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FD384-CF17-4C56-AE85-08FBC427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B6570-A037-401B-9A3B-BCF1B2B9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24CD1-A837-412A-9496-9A7801F5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7E4DC-439D-4764-93A7-C5A84D01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CBDC8-7A13-48B4-8B74-29D40DA4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140D9-0C97-4DF8-B487-34E1229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12A0E-26C6-4AB6-BAF2-CF36574D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0805F-6B09-4255-89C5-F2F61CF7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05C7D-DB3B-4F37-BBD2-16B9AA1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A0565-F0E9-48B6-856A-B09BAD4B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E5AB5-48C8-473D-935E-E83D9754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B20EE-4B5C-4660-B7CB-C128E37D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84509-F015-4AF9-86CF-E9AD35DE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3FE9B-C806-4453-84D7-9F0EDB85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A4B97-D37E-4DF4-A901-C92CCB77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1BDA4-14EA-44F2-A3AA-65EC1BD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CB644-CCA3-4B27-BD67-5E62F9A6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ABBC1-3F56-4EFD-98B5-C2C9F6D8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EE93E-C3D2-462C-A627-314F938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D77FB-6358-4EC8-887B-0ADDDAD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635B0-B059-44F8-919D-763E6073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B0098-5A54-4EA4-9E48-7E2FCBD5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C5887-5875-4F90-96EF-A1651B5D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79049-C679-46E6-A5D1-9EF6AD32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1DBA1-3CCE-412E-BD73-20EF4A9C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行动阶梯 04—06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02B19B-3FF4-4514-90F7-5496FAD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把局部胜利固定、扩展，并约束代表者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E9036-DAB6-46F7-AB6F-C16FEC54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39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B981B2-6218-42EC-9E99-9E440112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CE3BB-CCA8-4E6B-884F-3C429FF2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稳定制度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F57B73-1A57-4279-AC51-1CE51FAF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书面条款、民选技术委员会、独立评估、暂停权、申诉与定期复议。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39694-77B6-4D84-AFF5-09BBEE20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08BF3B-F10B-4D8B-9742-B62AE862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跨出机构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1E6E88-FB3A-4588-8368-67855F7D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条款推进到行业协议、专业标准、公共采购与劳动法规。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64AD08-D701-4797-8E33-1F9BEBB8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46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ACBC48-8CED-4630-A27B-BF5C4D2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90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8"/>
                </a:solidFill>
              </a:defRPr>
            </a:pPr>
            <a:r>
              <a:rPr sz="1800" b="1">
                <a:solidFill>
                  <a:srgbClr val="F7F2E8"/>
                </a:solidFill>
              </a:rPr>
              <a:t>代表问责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F9C738-C089-4B00-8D6B-A82C6812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3390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CDBF9F"/>
                </a:solidFill>
              </a:defRPr>
            </a:pPr>
            <a:r>
              <a:rPr sz="1388" b="0">
                <a:solidFill>
                  <a:srgbClr val="CDBF9F"/>
                </a:solidFill>
              </a:rPr>
              <a:t>公开授权；基层保留信息、替代方案、否决、撤换与少数表达。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40693D-0968-416C-AF49-7A4FCD1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D32278-05EC-4B4B-B0BC-CDD59EC1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1D0563-3741-4DE2-97E8-F03FFA88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产出四：制度条款草案；不声称存在统一路线。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9EED3B-A690-4787-B625-D3725E6E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974ED5-E9E5-4949-A0D0-9E0D0477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讲稿正文与附录材料卡；页面标题可独立复原论证。</a:t>
            </a:r>
          </a:p>
        </p:txBody>
      </p:sp>
    </p:spTree>
    <p:extLst>
      <p:ext uri="{BB962C8B-B14F-4D97-AF65-F5344CB8AC3E}">
        <p14:creationId xmlns:p14="http://schemas.microsoft.com/office/powerpoint/2010/main" val="179988169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1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C2D05B-A9D7-4F62-B2FB-A5636E76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B5B19-FB2D-4573-AB7A-20D6D75D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2E1EE-BB13-48AC-9BF1-A68E6A31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9500C-F82B-4F3A-A285-B921636D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D4CC0-3480-46E6-903A-6B61B19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3F13A-E9C3-4A4A-A66D-0F68C35A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C11E2-6B3B-4F54-A810-35C75CC3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9F2B3-570B-44B9-BAC7-3355E504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2958D-A57F-4057-A384-C2950E8D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62B5F-615B-4B64-B4BD-56A0D438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950D8-D1C4-4A34-B3BA-EA4132D4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31A41-5FB7-4357-87F2-4BAA18E9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53027-D59E-4090-B7F4-D5BAF530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51D73-BC9A-4AD9-8B90-2C40591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512F5-69B2-409E-9808-479E3756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46F6F-FFA3-482D-9D85-1B403EDC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2B1F2-AF67-434F-9ADF-2DCF3C9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9F37B-C632-4D3E-8869-0755955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DDB2B-1920-4363-A40A-75B2310B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0D73E-7AF8-4F93-B609-61733CF5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49430-7C63-45D9-A11A-D02F8374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D072E-2B29-466D-AA66-3F1CC6D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A9A6A-2C5D-421D-8B6B-089A5EE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CB6A2-3A50-4F57-B15A-87650867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18091-6351-4C23-B4C7-D5543F9B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02FC98-E582-4329-BA31-1DF7414A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C194C-D497-43D0-A3BE-73634D61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905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8C6D9-2754-4FBD-B098-414731FD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4A31"/>
                </a:solidFill>
              </a:defRPr>
            </a:pPr>
            <a:r>
              <a:rPr sz="1125" b="1">
                <a:solidFill>
                  <a:srgbClr val="B94A31"/>
                </a:solidFill>
              </a:rPr>
              <a:t>判断进展的五种能力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4D4330-CA8D-4E51-9D75-0827BD1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2E8"/>
                </a:solidFill>
              </a:defRPr>
            </a:pPr>
            <a:r>
              <a:rPr sz="3150" b="1">
                <a:solidFill>
                  <a:srgbClr val="F7F2E8"/>
                </a:solidFill>
              </a:rPr>
              <a:t>技术是否成为受其影响者能够共同决定的对象？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B9696-0D4F-450A-9318-54827E7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685D"/>
                </a:solidFill>
              </a:defRPr>
            </a:pPr>
            <a:r>
              <a:rPr sz="1350" b="0">
                <a:solidFill>
                  <a:srgbClr val="6D685D"/>
                </a:solidFill>
              </a:rPr>
              <a:t>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9184AD-2CA7-49A4-9672-B2FB94F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53F1DE-F250-4578-840B-C1F773A3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80F21-9645-4683-8144-36C01E0A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8127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知情调查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7C3BCF-4D56-4C09-9DD6-B74390E7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理解任务、评价、数据与责任变化。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91E9AB-BACB-4FF9-9968-AC166FE3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76225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141623-E310-4189-B28E-EEDC2C3F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04787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9D728D-7C60-458F-B90A-574714E9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40030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F9C8AE-7125-4B0F-95E7-B031071B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58127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协商叫停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11D77B-2A51-4F09-8185-E8CFE4E2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17182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能谈判、修改、暂停或拒绝部署。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20CC7E-3C4E-465E-B30C-CD8EDFAF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10" y="276225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C1F02-1078-4AAF-ABB7-DE9BD63B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04787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417CA-92F6-40AB-94D8-388D47C1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40030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969483-9E40-493B-AB6A-F7266104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258127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成本收益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868C8F-907C-4DEF-A787-BDAAD633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317182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决定工时、工资、风险与培训安排。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BD63CD-ED86-4290-BF75-A5EDBA4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76225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AEAA1E-878A-47AC-A342-42CFC95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04787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C20F9F-6689-44A7-B408-F2E165CF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40030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8B86E2-FA1B-4309-9CC8-D04EDF1F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58127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跨职业协调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CB059F-DEA3-4004-A146-AA850A8B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317182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连接专业、外包、辅助与服务对象。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F658E2-BCF5-49D7-907C-0985D5DE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2762250"/>
            <a:ext cx="15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9D6FF"/>
                </a:solidFill>
              </a:defRPr>
            </a:pPr>
            <a:r>
              <a:rPr sz="1200" b="1">
                <a:solidFill>
                  <a:srgbClr val="79D6FF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198645-76F8-4E7E-8929-598A4ACE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047875"/>
            <a:ext cx="20497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6FF"/>
                </a:solidFill>
              </a:defRPr>
            </a:pPr>
            <a:r>
              <a:rPr sz="1425" b="1">
                <a:solidFill>
                  <a:srgbClr val="79D6FF"/>
                </a:solidFill>
              </a:rPr>
              <a:t>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3361F0-EDBF-4A4C-8ADD-8C2A647E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400300"/>
            <a:ext cx="20497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387487-7F41-47DC-9CA7-13D2AFB8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2581275"/>
            <a:ext cx="20497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2E8"/>
                </a:solidFill>
              </a:defRPr>
            </a:pPr>
            <a:r>
              <a:rPr sz="1575" b="1">
                <a:solidFill>
                  <a:srgbClr val="F7F2E8"/>
                </a:solidFill>
              </a:rPr>
              <a:t>代表问责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9CC6CC-8BD3-4C36-B58A-13332987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70" y="3171825"/>
            <a:ext cx="204978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4DD"/>
                </a:solidFill>
              </a:defRPr>
            </a:pPr>
            <a:r>
              <a:rPr sz="1275" b="0">
                <a:solidFill>
                  <a:srgbClr val="B9D4DD"/>
                </a:solidFill>
              </a:rPr>
              <a:t>取得信息、否决、撤换与纠错。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F843D7-D43B-43E9-94DC-59D1F361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93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99D4FA-3F23-45B8-9A8E-9AC361C0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FED894-CE6B-42C4-8507-84754BC7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E3C8"/>
                </a:solidFill>
              </a:defRPr>
            </a:pPr>
            <a:r>
              <a:rPr sz="1425" b="1">
                <a:solidFill>
                  <a:srgbClr val="EEE3C8"/>
                </a:solidFill>
              </a:rPr>
              <a:t>从个人态度到共同调查，从一次行动到可复议制度。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EDDC56-69DE-4359-839E-8612AABB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CD2B95-51A0-4D3B-A101-F0D309B6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66E"/>
                </a:solidFill>
              </a:defRPr>
            </a:pPr>
            <a:r>
              <a:rPr sz="788" b="0">
                <a:solidFill>
                  <a:srgbClr val="77766E"/>
                </a:solidFill>
              </a:rPr>
              <a:t>史料：英国国家档案馆、Hansard；图像：Wikimedia 公共领域；研究清单见讲稿附录。</a:t>
            </a:r>
          </a:p>
        </p:txBody>
      </p:sp>
    </p:spTree>
    <p:extLst>
      <p:ext uri="{BB962C8B-B14F-4D97-AF65-F5344CB8AC3E}">
        <p14:creationId xmlns:p14="http://schemas.microsoft.com/office/powerpoint/2010/main" val="1954929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2026-07-18T18:42:11.5730000Z</dcterms:created>
  <dcterms:modified xsi:type="dcterms:W3CDTF">2026-07-18T18:42:11.5730000Z</dcterms:modified>
</coreProperties>
</file>